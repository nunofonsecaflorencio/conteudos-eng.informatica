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8" r:id="rId2"/>
    <p:sldId id="257" r:id="rId3"/>
    <p:sldId id="258" r:id="rId4"/>
    <p:sldId id="259" r:id="rId5"/>
    <p:sldId id="260" r:id="rId6"/>
    <p:sldId id="261" r:id="rId7"/>
    <p:sldId id="281" r:id="rId8"/>
    <p:sldId id="262" r:id="rId9"/>
    <p:sldId id="263" r:id="rId10"/>
    <p:sldId id="282" r:id="rId11"/>
    <p:sldId id="264" r:id="rId12"/>
    <p:sldId id="265" r:id="rId13"/>
    <p:sldId id="266" r:id="rId14"/>
    <p:sldId id="279" r:id="rId15"/>
    <p:sldId id="280" r:id="rId16"/>
    <p:sldId id="267" r:id="rId17"/>
    <p:sldId id="268" r:id="rId18"/>
    <p:sldId id="269" r:id="rId19"/>
    <p:sldId id="270" r:id="rId20"/>
    <p:sldId id="271" r:id="rId21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1" autoAdjust="0"/>
    <p:restoredTop sz="94660"/>
  </p:normalViewPr>
  <p:slideViewPr>
    <p:cSldViewPr>
      <p:cViewPr>
        <p:scale>
          <a:sx n="76" d="100"/>
          <a:sy n="76" d="100"/>
        </p:scale>
        <p:origin x="-34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B85489DC-322D-4FDE-A681-A68429B1F09E}" type="datetimeFigureOut">
              <a:rPr lang="pt-PT" smtClean="0"/>
              <a:t>28-05-2021</a:t>
            </a:fld>
            <a:endParaRPr lang="pt-PT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pt-PT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7D8C017-49AB-4151-8A57-B43DD686ECD3}" type="slidenum">
              <a:rPr lang="pt-PT" smtClean="0"/>
              <a:t>‹#›</a:t>
            </a:fld>
            <a:endParaRPr lang="pt-PT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Limite de Função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pt-PT" dirty="0" smtClean="0"/>
              <a:t>Definição </a:t>
            </a:r>
            <a:r>
              <a:rPr lang="pt-PT" dirty="0"/>
              <a:t>de limite de uma </a:t>
            </a:r>
            <a:r>
              <a:rPr lang="pt-PT" dirty="0" smtClean="0"/>
              <a:t>função</a:t>
            </a:r>
          </a:p>
          <a:p>
            <a:pPr>
              <a:buFontTx/>
              <a:buChar char="-"/>
            </a:pPr>
            <a:r>
              <a:rPr lang="pt-PT" dirty="0" smtClean="0"/>
              <a:t>Limites laterais</a:t>
            </a:r>
            <a:endParaRPr lang="pt-PT" dirty="0"/>
          </a:p>
          <a:p>
            <a:pPr>
              <a:buFontTx/>
              <a:buChar char="-"/>
            </a:pPr>
            <a:r>
              <a:rPr lang="pt-PT" dirty="0" smtClean="0"/>
              <a:t>Limites Infinitos</a:t>
            </a:r>
          </a:p>
          <a:p>
            <a:pPr>
              <a:buFontTx/>
              <a:buChar char="-"/>
            </a:pPr>
            <a:r>
              <a:rPr lang="pt-PT" dirty="0" smtClean="0"/>
              <a:t>Limites infinitos</a:t>
            </a:r>
          </a:p>
          <a:p>
            <a:pPr>
              <a:buFontTx/>
              <a:buChar char="-"/>
            </a:pPr>
            <a:r>
              <a:rPr lang="pt-PT" dirty="0" smtClean="0"/>
              <a:t>Cálculo </a:t>
            </a:r>
            <a:r>
              <a:rPr lang="pt-PT" dirty="0"/>
              <a:t>de limites usando suas leis</a:t>
            </a:r>
          </a:p>
        </p:txBody>
      </p:sp>
    </p:spTree>
    <p:extLst>
      <p:ext uri="{BB962C8B-B14F-4D97-AF65-F5344CB8AC3E}">
        <p14:creationId xmlns:p14="http://schemas.microsoft.com/office/powerpoint/2010/main" val="22150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Limite de função</a:t>
            </a:r>
            <a:endParaRPr lang="pt-P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82296" indent="0" algn="ctr">
                  <a:buNone/>
                </a:pPr>
                <a:r>
                  <a:rPr lang="pt-PT" b="1" dirty="0" smtClean="0"/>
                  <a:t>Limite de função</a:t>
                </a:r>
              </a:p>
              <a:p>
                <a:pPr marL="82296" indent="0">
                  <a:buNone/>
                </a:pPr>
                <a:r>
                  <a:rPr lang="pt-PT" dirty="0" smtClean="0"/>
                  <a:t>Definição</a:t>
                </a:r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pt-PT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b="0" i="1" smtClean="0">
                            <a:latin typeface="Cambria Math"/>
                          </a:rPr>
                          <m:t>=</m:t>
                        </m:r>
                        <m:r>
                          <a:rPr lang="pt-PT" b="0" i="1" smtClean="0">
                            <a:latin typeface="Cambria Math"/>
                          </a:rPr>
                          <m:t>𝐿</m:t>
                        </m:r>
                      </m:e>
                    </m:func>
                  </m:oMath>
                </a14:m>
                <a:r>
                  <a:rPr lang="pt-PT" dirty="0" smtClean="0"/>
                  <a:t>: lê-se o limite de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𝑓</m:t>
                    </m:r>
                    <m:r>
                      <a:rPr lang="pt-PT" b="0" i="1" smtClean="0">
                        <a:latin typeface="Cambria Math"/>
                      </a:rPr>
                      <m:t>(</m:t>
                    </m:r>
                    <m:r>
                      <a:rPr lang="pt-PT" b="0" i="1" smtClean="0">
                        <a:latin typeface="Cambria Math"/>
                      </a:rPr>
                      <m:t>𝑥</m:t>
                    </m:r>
                    <m:r>
                      <a:rPr lang="pt-PT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PT" dirty="0" smtClean="0"/>
                  <a:t> quando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PT" dirty="0" smtClean="0"/>
                  <a:t> tende para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PT" dirty="0" smtClean="0"/>
                  <a:t> é igual a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𝐿</m:t>
                    </m:r>
                  </m:oMath>
                </a14:m>
                <a:r>
                  <a:rPr lang="pt-PT" dirty="0" smtClean="0"/>
                  <a:t>.</a:t>
                </a:r>
              </a:p>
              <a:p>
                <a:pPr marL="82296" indent="0">
                  <a:buNone/>
                </a:pPr>
                <a:endParaRPr lang="pt-PT" dirty="0"/>
              </a:p>
              <a:p>
                <a:pPr marL="82296" indent="0">
                  <a:buNone/>
                </a:pPr>
                <a:r>
                  <a:rPr lang="pt-PT" dirty="0" smtClean="0"/>
                  <a:t>Significa que: se podemos tornar os valores de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𝑓</m:t>
                    </m:r>
                    <m:r>
                      <a:rPr lang="pt-PT" i="1">
                        <a:latin typeface="Cambria Math"/>
                      </a:rPr>
                      <m:t>(</m:t>
                    </m:r>
                    <m:r>
                      <a:rPr lang="pt-PT" i="1">
                        <a:latin typeface="Cambria Math"/>
                      </a:rPr>
                      <m:t>𝑥</m:t>
                    </m:r>
                    <m:r>
                      <a:rPr lang="pt-PT" i="1">
                        <a:latin typeface="Cambria Math"/>
                      </a:rPr>
                      <m:t>)</m:t>
                    </m:r>
                  </m:oMath>
                </a14:m>
                <a:r>
                  <a:rPr lang="pt-PT" dirty="0" smtClean="0"/>
                  <a:t> tão próximo de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𝐿</m:t>
                    </m:r>
                  </m:oMath>
                </a14:m>
                <a:r>
                  <a:rPr lang="pt-PT" dirty="0" smtClean="0"/>
                  <a:t> quanto quisermos, tornando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PT" dirty="0" smtClean="0"/>
                  <a:t> suficientemente próximo de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PT" dirty="0" smtClean="0"/>
                  <a:t>, por ambos lados de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𝑎</m:t>
                    </m:r>
                  </m:oMath>
                </a14:m>
                <a:r>
                  <a:rPr lang="pt-PT" dirty="0" smtClean="0"/>
                  <a:t>. </a:t>
                </a: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76" t="-2668" r="-1626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990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pt-PT" dirty="0" smtClean="0"/>
              <a:t>Graficamente</a:t>
            </a:r>
          </a:p>
          <a:p>
            <a:pPr marL="82296" indent="0">
              <a:buNone/>
            </a:pPr>
            <a:endParaRPr lang="pt-PT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979" y="2113012"/>
            <a:ext cx="3009900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584" y="2113012"/>
            <a:ext cx="2971800" cy="1561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437112"/>
            <a:ext cx="3009900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0061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82296" indent="0">
                  <a:buNone/>
                </a:pPr>
                <a:r>
                  <a:rPr lang="pt-PT" dirty="0" smtClean="0"/>
                  <a:t>Limites laterais: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i="1">
                            <a:latin typeface="Cambria Math"/>
                          </a:rPr>
                          <m:t>=</m:t>
                        </m:r>
                        <m:r>
                          <a:rPr lang="pt-PT" i="1">
                            <a:latin typeface="Cambria Math"/>
                          </a:rPr>
                          <m:t>𝐿</m:t>
                        </m:r>
                      </m:e>
                    </m:func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/>
              </a:p>
              <a:p>
                <a:pPr marL="82296" indent="0">
                  <a:buNone/>
                </a:pPr>
                <a:r>
                  <a:rPr lang="pt-PT" dirty="0" smtClean="0"/>
                  <a:t>Dizemos que  o limite a esquerda de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PT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pt-PT" dirty="0" smtClean="0"/>
                  <a:t> quando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PT" dirty="0" smtClean="0"/>
                  <a:t> tende tende a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𝑎</m:t>
                    </m:r>
                  </m:oMath>
                </a14:m>
                <a:r>
                  <a:rPr lang="pt-PT" dirty="0" smtClean="0"/>
                  <a:t> pela esquerda é igual a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𝐿</m:t>
                    </m:r>
                  </m:oMath>
                </a14:m>
                <a:r>
                  <a:rPr lang="pt-PT" dirty="0" smtClean="0"/>
                  <a:t> se podermos tornar os valores de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𝑓</m:t>
                    </m:r>
                    <m:r>
                      <a:rPr lang="pt-PT" b="0" i="1" smtClean="0">
                        <a:latin typeface="Cambria Math"/>
                      </a:rPr>
                      <m:t>(</m:t>
                    </m:r>
                    <m:r>
                      <a:rPr lang="pt-PT" b="0" i="1" smtClean="0">
                        <a:latin typeface="Cambria Math"/>
                      </a:rPr>
                      <m:t>𝑥</m:t>
                    </m:r>
                    <m:r>
                      <a:rPr lang="pt-PT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PT" dirty="0" smtClean="0"/>
                  <a:t> próximos de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𝐿</m:t>
                    </m:r>
                  </m:oMath>
                </a14:m>
                <a:r>
                  <a:rPr lang="pt-PT" dirty="0" smtClean="0"/>
                  <a:t>, para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PT" dirty="0" smtClean="0"/>
                  <a:t> suficientemente próximo de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𝑎</m:t>
                    </m:r>
                  </m:oMath>
                </a14:m>
                <a:r>
                  <a:rPr lang="pt-PT" dirty="0" smtClean="0"/>
                  <a:t> 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PT" dirty="0" smtClean="0"/>
                  <a:t> menor que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𝑎</m:t>
                    </m:r>
                  </m:oMath>
                </a14:m>
                <a:r>
                  <a:rPr lang="pt-PT" dirty="0"/>
                  <a:t>. </a:t>
                </a:r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De </a:t>
                </a:r>
                <a:r>
                  <a:rPr lang="pt-PT" dirty="0"/>
                  <a:t>modo análogo, dizemos que limite a </a:t>
                </a:r>
                <a:r>
                  <a:rPr lang="pt-PT" dirty="0" smtClean="0"/>
                  <a:t>direita </a:t>
                </a:r>
                <a:r>
                  <a:rPr lang="pt-PT" dirty="0"/>
                  <a:t>de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PT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pt-PT" dirty="0"/>
                  <a:t> quando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𝑥</m:t>
                    </m:r>
                  </m:oMath>
                </a14:m>
                <a:r>
                  <a:rPr lang="pt-PT" dirty="0"/>
                  <a:t> tende tende a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𝑎</m:t>
                    </m:r>
                  </m:oMath>
                </a14:m>
                <a:r>
                  <a:rPr lang="pt-PT" dirty="0"/>
                  <a:t> pela </a:t>
                </a:r>
                <a:r>
                  <a:rPr lang="pt-PT" dirty="0" smtClean="0"/>
                  <a:t>direita </a:t>
                </a:r>
                <a:r>
                  <a:rPr lang="pt-PT" dirty="0"/>
                  <a:t>é igual a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𝐿</m:t>
                    </m:r>
                  </m:oMath>
                </a14:m>
                <a:r>
                  <a:rPr lang="pt-PT" dirty="0"/>
                  <a:t> se podermos tornar os valores de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𝑓</m:t>
                    </m:r>
                    <m:r>
                      <a:rPr lang="pt-PT" i="1">
                        <a:latin typeface="Cambria Math"/>
                      </a:rPr>
                      <m:t>(</m:t>
                    </m:r>
                    <m:r>
                      <a:rPr lang="pt-PT" i="1">
                        <a:latin typeface="Cambria Math"/>
                      </a:rPr>
                      <m:t>𝑥</m:t>
                    </m:r>
                    <m:r>
                      <a:rPr lang="pt-PT" i="1">
                        <a:latin typeface="Cambria Math"/>
                      </a:rPr>
                      <m:t>)</m:t>
                    </m:r>
                  </m:oMath>
                </a14:m>
                <a:r>
                  <a:rPr lang="pt-PT" dirty="0"/>
                  <a:t> próximos de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𝐿</m:t>
                    </m:r>
                  </m:oMath>
                </a14:m>
                <a:r>
                  <a:rPr lang="pt-PT" dirty="0" smtClean="0"/>
                  <a:t>.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i="1">
                            <a:latin typeface="Cambria Math"/>
                          </a:rPr>
                          <m:t>=</m:t>
                        </m:r>
                        <m:r>
                          <a:rPr lang="pt-PT" i="1">
                            <a:latin typeface="Cambria Math"/>
                          </a:rPr>
                          <m:t>𝐿</m:t>
                        </m:r>
                      </m:e>
                    </m:func>
                  </m:oMath>
                </a14:m>
                <a:r>
                  <a:rPr lang="pt-PT" dirty="0"/>
                  <a:t> </a:t>
                </a:r>
              </a:p>
              <a:p>
                <a:pPr marL="82296" indent="0">
                  <a:buNone/>
                </a:pPr>
                <a:r>
                  <a:rPr lang="pt-PT" dirty="0" smtClean="0"/>
                  <a:t>  </a:t>
                </a: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906" r="-122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139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2296" indent="0">
                  <a:buNone/>
                </a:pPr>
                <a:r>
                  <a:rPr lang="pt-PT" sz="2400" dirty="0" smtClean="0"/>
                  <a:t>Graficamente</a:t>
                </a:r>
              </a:p>
              <a:p>
                <a:pPr marL="82296" indent="0">
                  <a:buNone/>
                </a:pPr>
                <a:r>
                  <a:rPr lang="pt-PT" sz="2400" dirty="0" smtClean="0"/>
                  <a:t>Limite a esquerda: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4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4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4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400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sz="2400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sz="2400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sz="2400" i="1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PT" sz="2400" i="1"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sz="2400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sz="24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sz="2400" i="1">
                            <a:latin typeface="Cambria Math"/>
                          </a:rPr>
                          <m:t>=</m:t>
                        </m:r>
                        <m:r>
                          <a:rPr lang="pt-PT" sz="2400" i="1">
                            <a:latin typeface="Cambria Math"/>
                          </a:rPr>
                          <m:t>𝐿</m:t>
                        </m:r>
                      </m:e>
                    </m:func>
                  </m:oMath>
                </a14:m>
                <a:endParaRPr lang="pt-PT" sz="2400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endParaRPr lang="pt-PT" dirty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sz="2400" dirty="0" smtClean="0"/>
                  <a:t>Limite a direita: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4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4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4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400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sz="2400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sz="2400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sz="2400" i="1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PT" sz="2400" b="0" i="1" smtClean="0"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sz="2400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sz="24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sz="2400" i="1">
                            <a:latin typeface="Cambria Math"/>
                          </a:rPr>
                          <m:t>=</m:t>
                        </m:r>
                        <m:r>
                          <a:rPr lang="pt-PT" sz="2400" i="1">
                            <a:latin typeface="Cambria Math"/>
                          </a:rPr>
                          <m:t>𝐿</m:t>
                        </m:r>
                      </m:e>
                    </m:func>
                  </m:oMath>
                </a14:m>
                <a:endParaRPr lang="pt-PT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" t="-1017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564904"/>
            <a:ext cx="2925489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685" y="4921763"/>
            <a:ext cx="2901677" cy="1274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495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2296" indent="0">
                  <a:buNone/>
                </a:pPr>
                <a:r>
                  <a:rPr lang="pt-PT" dirty="0" smtClean="0"/>
                  <a:t>Portanto:</a:t>
                </a:r>
              </a:p>
              <a:p>
                <a:pPr marL="82296" indent="0">
                  <a:buNone/>
                </a:pPr>
                <a:r>
                  <a:rPr lang="pt-PT" sz="2000" dirty="0" smtClean="0"/>
                  <a:t>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0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0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0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sz="2000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sz="2000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pt-PT" sz="2000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sz="2000" i="1">
                            <a:latin typeface="Cambria Math"/>
                          </a:rPr>
                          <m:t>=</m:t>
                        </m:r>
                        <m:r>
                          <a:rPr lang="pt-PT" sz="2000" i="1">
                            <a:latin typeface="Cambria Math"/>
                          </a:rPr>
                          <m:t>𝐿</m:t>
                        </m:r>
                      </m:e>
                    </m:func>
                  </m:oMath>
                </a14:m>
                <a:r>
                  <a:rPr lang="pt-PT" sz="2000" dirty="0" smtClean="0"/>
                  <a:t> se e somente 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0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0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0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sz="2000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sz="2000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sz="2000" i="1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PT" sz="2000" i="1"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sz="2000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sz="2000" i="1">
                            <a:latin typeface="Cambria Math"/>
                          </a:rPr>
                          <m:t>=</m:t>
                        </m:r>
                        <m:r>
                          <a:rPr lang="pt-PT" sz="2000" i="1">
                            <a:latin typeface="Cambria Math"/>
                          </a:rPr>
                          <m:t>𝐿</m:t>
                        </m:r>
                      </m:e>
                    </m:func>
                  </m:oMath>
                </a14:m>
                <a:r>
                  <a:rPr lang="pt-PT" sz="2000" dirty="0" smtClean="0"/>
                  <a:t> 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0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0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0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sz="2000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sz="2000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sz="2000" i="1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PT" sz="2000" b="0" i="1" smtClean="0"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sz="2000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sz="20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sz="2000" i="1">
                            <a:latin typeface="Cambria Math"/>
                          </a:rPr>
                          <m:t>=</m:t>
                        </m:r>
                        <m:r>
                          <a:rPr lang="pt-PT" sz="2000" i="1">
                            <a:latin typeface="Cambria Math"/>
                          </a:rPr>
                          <m:t>𝐿</m:t>
                        </m:r>
                      </m:e>
                    </m:func>
                  </m:oMath>
                </a14:m>
                <a:endParaRPr lang="pt-PT" sz="2000" dirty="0" smtClean="0"/>
              </a:p>
              <a:p>
                <a:pPr marL="82296" indent="0">
                  <a:buNone/>
                </a:pPr>
                <a:r>
                  <a:rPr lang="pt-PT" sz="2000" dirty="0" smtClean="0"/>
                  <a:t>Exemplo: observe o gráfico e diga se os limite existem caso existem:</a:t>
                </a:r>
              </a:p>
              <a:p>
                <a:pPr marL="82296" indent="0">
                  <a:buNone/>
                </a:pPr>
                <a:endParaRPr lang="pt-PT" sz="2000" dirty="0"/>
              </a:p>
              <a:p>
                <a:pPr marL="82296" indent="0">
                  <a:buNone/>
                </a:pPr>
                <a:endParaRPr lang="pt-PT" sz="2000" dirty="0" smtClean="0"/>
              </a:p>
              <a:p>
                <a:pPr marL="82296" indent="0">
                  <a:buNone/>
                </a:pPr>
                <a:endParaRPr lang="pt-PT" sz="2000" dirty="0" smtClean="0"/>
              </a:p>
              <a:p>
                <a:pPr marL="82296" indent="0">
                  <a:buNone/>
                </a:pPr>
                <a:endParaRPr lang="pt-PT" sz="2000" dirty="0"/>
              </a:p>
              <a:p>
                <a:pPr marL="82296" indent="0">
                  <a:buNone/>
                </a:pPr>
                <a:endParaRPr lang="pt-PT" sz="2000" dirty="0"/>
              </a:p>
              <a:p>
                <a:pPr marL="82296" indent="0">
                  <a:buNone/>
                </a:pPr>
                <a:r>
                  <a:rPr lang="pt-PT" sz="2000" dirty="0" smtClean="0"/>
                  <a:t>a)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00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00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000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0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sz="2000" b="0" i="1" smtClean="0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sz="20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sz="2000" b="0" i="1" smtClean="0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pt-PT" sz="2000" b="0" i="1" smtClean="0"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sz="2000" b="0" i="1" smtClean="0">
                            <a:latin typeface="Cambria Math"/>
                          </a:rPr>
                          <m:t>𝑔</m:t>
                        </m:r>
                        <m:r>
                          <a:rPr lang="pt-PT" sz="2000" b="0" i="1" smtClean="0">
                            <a:latin typeface="Cambria Math"/>
                          </a:rPr>
                          <m:t>(</m:t>
                        </m:r>
                        <m:r>
                          <a:rPr lang="pt-PT" sz="2000" b="0" i="1" smtClean="0">
                            <a:latin typeface="Cambria Math"/>
                          </a:rPr>
                          <m:t>𝑥</m:t>
                        </m:r>
                        <m:r>
                          <a:rPr lang="pt-PT" sz="2000" b="0" i="1" smtClean="0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pt-PT" sz="2000" dirty="0" smtClean="0"/>
                  <a:t>		b)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0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0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0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sz="2000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sz="2000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sz="2000" i="1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pt-PT" sz="2000" b="0" i="1" smtClean="0"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sz="2000" i="1">
                            <a:latin typeface="Cambria Math"/>
                          </a:rPr>
                          <m:t>𝑔</m:t>
                        </m:r>
                        <m:r>
                          <a:rPr lang="pt-PT" sz="2000" i="1">
                            <a:latin typeface="Cambria Math"/>
                          </a:rPr>
                          <m:t>(</m:t>
                        </m:r>
                        <m:r>
                          <a:rPr lang="pt-PT" sz="2000" i="1">
                            <a:latin typeface="Cambria Math"/>
                          </a:rPr>
                          <m:t>𝑥</m:t>
                        </m:r>
                        <m:r>
                          <a:rPr lang="pt-PT" sz="2000" i="1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pt-PT" sz="2000" dirty="0" smtClean="0"/>
                  <a:t> 	c)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0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0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0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sz="2000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sz="2000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lim>
                        </m:limLow>
                      </m:fName>
                      <m:e>
                        <m:r>
                          <a:rPr lang="pt-PT" sz="2000" i="1">
                            <a:latin typeface="Cambria Math"/>
                          </a:rPr>
                          <m:t>𝑔</m:t>
                        </m:r>
                        <m:r>
                          <a:rPr lang="pt-PT" sz="2000" i="1">
                            <a:latin typeface="Cambria Math"/>
                          </a:rPr>
                          <m:t>(</m:t>
                        </m:r>
                        <m:r>
                          <a:rPr lang="pt-PT" sz="2000" i="1">
                            <a:latin typeface="Cambria Math"/>
                          </a:rPr>
                          <m:t>𝑥</m:t>
                        </m:r>
                        <m:r>
                          <a:rPr lang="pt-PT" sz="2000" i="1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pt-PT" sz="2000" dirty="0" smtClean="0"/>
              </a:p>
              <a:p>
                <a:pPr marL="82296" indent="0">
                  <a:buNone/>
                </a:pPr>
                <a:r>
                  <a:rPr lang="pt-PT" sz="2000" dirty="0" smtClean="0"/>
                  <a:t>d)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0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0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0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sz="2000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sz="2000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sz="2000" b="0" i="1" smtClean="0">
                                    <a:latin typeface="Cambria Math"/>
                                    <a:ea typeface="Cambria Math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pt-PT" sz="2000" i="1"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sz="2000" i="1">
                            <a:latin typeface="Cambria Math"/>
                          </a:rPr>
                          <m:t>𝑔</m:t>
                        </m:r>
                        <m:r>
                          <a:rPr lang="pt-PT" sz="2000" i="1">
                            <a:latin typeface="Cambria Math"/>
                          </a:rPr>
                          <m:t>(</m:t>
                        </m:r>
                        <m:r>
                          <a:rPr lang="pt-PT" sz="2000" i="1">
                            <a:latin typeface="Cambria Math"/>
                          </a:rPr>
                          <m:t>𝑥</m:t>
                        </m:r>
                        <m:r>
                          <a:rPr lang="pt-PT" sz="2000" i="1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pt-PT" sz="2000" dirty="0" smtClean="0"/>
                  <a:t>		e)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0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0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0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sz="2000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sz="2000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sz="2000" b="0" i="1" smtClean="0">
                                    <a:latin typeface="Cambria Math"/>
                                    <a:ea typeface="Cambria Math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pt-PT" sz="2000" i="1"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sz="2000" i="1">
                            <a:latin typeface="Cambria Math"/>
                          </a:rPr>
                          <m:t>𝑔</m:t>
                        </m:r>
                        <m:r>
                          <a:rPr lang="pt-PT" sz="2000" i="1">
                            <a:latin typeface="Cambria Math"/>
                          </a:rPr>
                          <m:t>(</m:t>
                        </m:r>
                        <m:r>
                          <a:rPr lang="pt-PT" sz="2000" i="1">
                            <a:latin typeface="Cambria Math"/>
                          </a:rPr>
                          <m:t>𝑥</m:t>
                        </m:r>
                        <m:r>
                          <a:rPr lang="pt-PT" sz="2000" i="1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pt-PT" sz="2000" dirty="0" smtClean="0"/>
                  <a:t> 	f)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0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0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0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000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sz="2000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sz="2000" b="0" i="1" smtClean="0">
                                <a:latin typeface="Cambria Math"/>
                                <a:ea typeface="Cambria Math"/>
                              </a:rPr>
                              <m:t>5</m:t>
                            </m:r>
                          </m:lim>
                        </m:limLow>
                      </m:fName>
                      <m:e>
                        <m:r>
                          <a:rPr lang="pt-PT" sz="2000" i="1">
                            <a:latin typeface="Cambria Math"/>
                          </a:rPr>
                          <m:t>𝑔</m:t>
                        </m:r>
                        <m:r>
                          <a:rPr lang="pt-PT" sz="2000" i="1">
                            <a:latin typeface="Cambria Math"/>
                          </a:rPr>
                          <m:t>(</m:t>
                        </m:r>
                        <m:r>
                          <a:rPr lang="pt-PT" sz="2000" i="1">
                            <a:latin typeface="Cambria Math"/>
                          </a:rPr>
                          <m:t>𝑥</m:t>
                        </m:r>
                        <m:r>
                          <a:rPr lang="pt-PT" sz="2000" i="1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pt-PT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76" t="-1652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996952"/>
            <a:ext cx="2267892" cy="1589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8255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82296" indent="0">
                  <a:buNone/>
                </a:pPr>
                <a:r>
                  <a:rPr lang="pt-PT" dirty="0" smtClean="0"/>
                  <a:t>Exemplo: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PT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pt-PT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pt-PT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pt-PT" b="0" i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PT" b="0" i="0" smtClean="0">
                                  <a:latin typeface="Cambria Math"/>
                                </a:rPr>
                                <m:t>se</m:t>
                              </m:r>
                              <m:r>
                                <m:rPr>
                                  <m:nor/>
                                </m:rPr>
                                <a:rPr lang="pt-PT" dirty="0"/>
                                <m:t> </m:t>
                              </m:r>
                              <m:r>
                                <a:rPr lang="pt-PT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dirty="0">
                                  <a:latin typeface="Cambria Math"/>
                                  <a:ea typeface="Cambria Math"/>
                                </a:rPr>
                                <m:t>≠0</m:t>
                              </m:r>
                            </m:e>
                          </m:mr>
                          <m:mr>
                            <m:e>
                              <m:r>
                                <a:rPr lang="pt-PT" b="0" i="1" smtClean="0">
                                  <a:latin typeface="Cambria Math"/>
                                </a:rPr>
                                <m:t>1       </m:t>
                              </m:r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/>
                                </a:rPr>
                                <m:t>se</m:t>
                              </m:r>
                              <m:r>
                                <a:rPr lang="pt-PT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pt-PT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/>
                                </a:rPr>
                                <m:t>=0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Calcula: </a:t>
                </a:r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r>
                          <a:rPr lang="pt-PT" i="1">
                            <a:latin typeface="Cambria Math"/>
                          </a:rPr>
                          <m:t>(</m:t>
                        </m:r>
                        <m:r>
                          <a:rPr lang="pt-PT" i="1">
                            <a:latin typeface="Cambria Math"/>
                          </a:rPr>
                          <m:t>𝑥</m:t>
                        </m:r>
                        <m:r>
                          <a:rPr lang="pt-PT" i="1">
                            <a:latin typeface="Cambria Math"/>
                          </a:rPr>
                          <m:t>)</m:t>
                        </m:r>
                      </m:e>
                    </m:func>
                    <m:r>
                      <a:rPr lang="pt-PT" i="1">
                        <a:latin typeface="Cambria Math"/>
                      </a:rPr>
                      <m:t> </m:t>
                    </m:r>
                  </m:oMath>
                </a14:m>
                <a:r>
                  <a:rPr lang="pt-PT" dirty="0" smtClean="0"/>
                  <a:t>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r>
                          <a:rPr lang="pt-PT" i="1">
                            <a:latin typeface="Cambria Math"/>
                          </a:rPr>
                          <m:t>(</m:t>
                        </m:r>
                        <m:r>
                          <a:rPr lang="pt-PT" i="1">
                            <a:latin typeface="Cambria Math"/>
                          </a:rPr>
                          <m:t>𝑥</m:t>
                        </m:r>
                        <m:r>
                          <a:rPr lang="pt-PT" i="1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Solução</a:t>
                </a:r>
              </a:p>
              <a:p>
                <a:pPr marL="82296" indent="0">
                  <a:buNone/>
                </a:pPr>
                <a:r>
                  <a:rPr lang="pt-PT" dirty="0" smtClean="0"/>
                  <a:t>Se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𝑥</m:t>
                    </m:r>
                    <m:r>
                      <a:rPr lang="pt-PT" b="0" i="1" smtClean="0">
                        <a:latin typeface="Cambria Math"/>
                      </a:rPr>
                      <m:t>&gt;</m:t>
                    </m:r>
                    <m:r>
                      <a:rPr lang="pt-PT" b="0" i="0" smtClean="0">
                        <a:latin typeface="Cambria Math"/>
                      </a:rPr>
                      <m:t>0</m:t>
                    </m:r>
                  </m:oMath>
                </a14:m>
                <a:r>
                  <a:rPr lang="pt-PT" b="0" dirty="0" smtClean="0"/>
                  <a:t> então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=</m:t>
                    </m:r>
                    <m:r>
                      <a:rPr lang="pt-PT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PT" b="0" dirty="0" smtClean="0"/>
                  <a:t> 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</a:rPr>
                          <m:t>−</m:t>
                        </m:r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</m:den>
                    </m:f>
                    <m:r>
                      <a:rPr lang="pt-PT" b="0" i="1" smtClean="0">
                        <a:latin typeface="Cambria Math"/>
                      </a:rPr>
                      <m:t>=−1</m:t>
                    </m:r>
                  </m:oMath>
                </a14:m>
                <a:endParaRPr lang="pt-PT" b="0" dirty="0" smtClean="0"/>
              </a:p>
              <a:p>
                <a:pPr marL="82296" indent="0">
                  <a:buNone/>
                </a:pPr>
                <a:r>
                  <a:rPr lang="pt-PT" dirty="0" smtClean="0"/>
                  <a:t>⟹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r>
                          <a:rPr lang="pt-PT" i="1">
                            <a:latin typeface="Cambria Math"/>
                          </a:rPr>
                          <m:t>(</m:t>
                        </m:r>
                        <m:r>
                          <a:rPr lang="pt-PT" i="1">
                            <a:latin typeface="Cambria Math"/>
                          </a:rPr>
                          <m:t>𝑥</m:t>
                        </m:r>
                        <m:r>
                          <a:rPr lang="pt-PT" i="1">
                            <a:latin typeface="Cambria Math"/>
                          </a:rPr>
                          <m:t>)</m:t>
                        </m:r>
                      </m:e>
                    </m:func>
                    <m:r>
                      <a:rPr lang="pt-PT" b="0" i="1" smtClean="0">
                        <a:latin typeface="Cambria Math"/>
                      </a:rPr>
                      <m:t>=−1</m:t>
                    </m:r>
                  </m:oMath>
                </a14:m>
                <a:endParaRPr lang="pt-PT" b="0" dirty="0" smtClean="0"/>
              </a:p>
              <a:p>
                <a:pPr marL="82296" indent="0">
                  <a:buNone/>
                </a:pPr>
                <a:endParaRPr lang="pt-PT" dirty="0"/>
              </a:p>
              <a:p>
                <a:pPr marL="82296" indent="0">
                  <a:buNone/>
                </a:pPr>
                <a:r>
                  <a:rPr lang="pt-PT" dirty="0"/>
                  <a:t>Se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𝑥</m:t>
                    </m:r>
                    <m:r>
                      <a:rPr lang="pt-PT" b="0" i="0" smtClean="0">
                        <a:latin typeface="Cambria Math"/>
                      </a:rPr>
                      <m:t>&lt;</m:t>
                    </m:r>
                    <m:r>
                      <a:rPr lang="pt-PT">
                        <a:latin typeface="Cambria Math"/>
                      </a:rPr>
                      <m:t>0</m:t>
                    </m:r>
                  </m:oMath>
                </a14:m>
                <a:r>
                  <a:rPr lang="pt-PT" dirty="0"/>
                  <a:t> então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PT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pt-PT" i="1">
                        <a:latin typeface="Cambria Math"/>
                      </a:rPr>
                      <m:t>=</m:t>
                    </m:r>
                    <m:r>
                      <a:rPr lang="pt-PT" b="0" i="1" smtClean="0">
                        <a:latin typeface="Cambria Math"/>
                      </a:rPr>
                      <m:t>−</m:t>
                    </m:r>
                    <m:r>
                      <a:rPr lang="pt-PT" i="1">
                        <a:latin typeface="Cambria Math"/>
                      </a:rPr>
                      <m:t>𝑥</m:t>
                    </m:r>
                  </m:oMath>
                </a14:m>
                <a:r>
                  <a:rPr lang="pt-PT" dirty="0"/>
                  <a:t> 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PT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pt-PT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i="1">
                            <a:latin typeface="Cambria Math"/>
                          </a:rPr>
                        </m:ctrlPr>
                      </m:fPr>
                      <m:num>
                        <m:r>
                          <a:rPr lang="pt-PT" i="1">
                            <a:latin typeface="Cambria Math"/>
                          </a:rPr>
                          <m:t>−</m:t>
                        </m:r>
                        <m:r>
                          <a:rPr lang="pt-PT" b="0" i="1" smtClean="0">
                            <a:latin typeface="Cambria Math"/>
                          </a:rPr>
                          <m:t>(−</m:t>
                        </m:r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  <m:r>
                          <a:rPr lang="pt-PT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pt-PT" i="1">
                            <a:latin typeface="Cambria Math"/>
                          </a:rPr>
                          <m:t>𝑥</m:t>
                        </m:r>
                      </m:den>
                    </m:f>
                    <m:r>
                      <a:rPr lang="pt-PT" i="1">
                        <a:latin typeface="Cambria Math"/>
                      </a:rPr>
                      <m:t>=1</m:t>
                    </m:r>
                  </m:oMath>
                </a14:m>
                <a:endParaRPr lang="pt-PT" dirty="0"/>
              </a:p>
              <a:p>
                <a:pPr marL="82296" indent="0">
                  <a:buNone/>
                </a:pPr>
                <a:r>
                  <a:rPr lang="pt-PT" dirty="0"/>
                  <a:t>⟹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pt-PT" i="1">
                                    <a:latin typeface="Cambria Math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r>
                          <a:rPr lang="pt-PT" i="1">
                            <a:latin typeface="Cambria Math"/>
                          </a:rPr>
                          <m:t>(</m:t>
                        </m:r>
                        <m:r>
                          <a:rPr lang="pt-PT" i="1">
                            <a:latin typeface="Cambria Math"/>
                          </a:rPr>
                          <m:t>𝑥</m:t>
                        </m:r>
                        <m:r>
                          <a:rPr lang="pt-PT" i="1">
                            <a:latin typeface="Cambria Math"/>
                          </a:rPr>
                          <m:t>)</m:t>
                        </m:r>
                      </m:e>
                    </m:func>
                    <m:r>
                      <a:rPr lang="pt-PT" i="1">
                        <a:latin typeface="Cambria Math"/>
                      </a:rPr>
                      <m:t>=1</m:t>
                    </m:r>
                  </m:oMath>
                </a14:m>
                <a:endParaRPr lang="pt-PT" dirty="0"/>
              </a:p>
              <a:p>
                <a:pPr marL="82296" indent="0">
                  <a:buNone/>
                </a:pPr>
                <a:endParaRPr lang="pt-PT" b="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77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085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82296" indent="0">
                  <a:buNone/>
                </a:pPr>
                <a:r>
                  <a:rPr lang="pt-PT" b="1" dirty="0" smtClean="0"/>
                  <a:t>Limites infinitos</a:t>
                </a:r>
              </a:p>
              <a:p>
                <a:pPr marL="82296" indent="0">
                  <a:buNone/>
                </a:pPr>
                <a:r>
                  <a:rPr lang="pt-PT" dirty="0" smtClean="0"/>
                  <a:t>Seja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𝑓</m:t>
                    </m:r>
                  </m:oMath>
                </a14:m>
                <a:r>
                  <a:rPr lang="pt-PT" dirty="0" smtClean="0"/>
                  <a:t> uma função definida em ambos lados de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PT" dirty="0" smtClean="0"/>
                  <a:t> exceptos possivelmente em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𝑎</m:t>
                    </m:r>
                  </m:oMath>
                </a14:m>
                <a:r>
                  <a:rPr lang="pt-PT" dirty="0" smtClean="0"/>
                  <a:t>. Então, </a:t>
                </a:r>
              </a:p>
              <a:p>
                <a:pPr marL="82296" indent="0">
                  <a:buNone/>
                </a:pPr>
                <a:r>
                  <a:rPr lang="pt-PT" dirty="0" smtClean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i="1" smtClean="0">
                                <a:latin typeface="Cambria Math"/>
                                <a:ea typeface="Cambria Math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i="1">
                            <a:latin typeface="Cambria Math"/>
                          </a:rPr>
                          <m:t>=</m:t>
                        </m:r>
                        <m:r>
                          <a:rPr lang="pt-PT" i="1" smtClean="0">
                            <a:latin typeface="Cambria Math"/>
                            <a:ea typeface="Cambria Math"/>
                          </a:rPr>
                          <m:t>∞</m:t>
                        </m:r>
                      </m:e>
                    </m:func>
                  </m:oMath>
                </a14:m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Significa que podemos fazer os valores de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PT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pt-PT" dirty="0" smtClean="0"/>
                  <a:t> se tornarem arbitrariamente grande quanto quisermos tomando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PT" dirty="0" smtClean="0"/>
                  <a:t> suficientemente próximo de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</a:rPr>
                      <m:t>𝑎</m:t>
                    </m:r>
                  </m:oMath>
                </a14:m>
                <a:r>
                  <a:rPr lang="pt-PT" dirty="0" smtClean="0"/>
                  <a:t>.</a:t>
                </a: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76" t="-2668" r="-2276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6712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2296" indent="0">
                  <a:buNone/>
                </a:pPr>
                <a:r>
                  <a:rPr lang="pt-PT" sz="2800" dirty="0" smtClean="0"/>
                  <a:t>Exemplo:</a:t>
                </a:r>
              </a:p>
              <a:p>
                <a:pPr marL="82296" indent="0">
                  <a:buNone/>
                </a:pPr>
                <a:endParaRPr lang="pt-PT" dirty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endParaRPr lang="pt-PT" dirty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sz="280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80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800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8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sz="2800" b="0" i="1" smtClean="0">
                                <a:latin typeface="Cambria Math"/>
                                <a:ea typeface="Cambria Math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r>
                          <a:rPr lang="pt-PT" sz="2800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sz="2800" b="0" i="1" smtClean="0">
                            <a:latin typeface="Cambria Math"/>
                          </a:rPr>
                          <m:t>=</m:t>
                        </m:r>
                        <m:r>
                          <a:rPr lang="pt-PT" sz="2800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e>
                    </m:func>
                  </m:oMath>
                </a14:m>
                <a:r>
                  <a:rPr lang="pt-PT" sz="2800" dirty="0" smtClean="0"/>
                  <a:t>	 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sz="2800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sz="2800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sz="2800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sz="2800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sz="2800" b="0" i="1" smtClean="0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sz="2800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pt-PT" sz="2800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sz="2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sz="2800" b="0" i="1" smtClean="0">
                            <a:latin typeface="Cambria Math"/>
                          </a:rPr>
                          <m:t>=</m:t>
                        </m:r>
                        <m:r>
                          <a:rPr lang="pt-PT" sz="2800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e>
                    </m:func>
                  </m:oMath>
                </a14:m>
                <a:endParaRPr lang="pt-PT" sz="2800" dirty="0" smtClean="0"/>
              </a:p>
              <a:p>
                <a:pPr marL="82296" indent="0">
                  <a:buNone/>
                </a:pPr>
                <a:endParaRPr lang="pt-PT" dirty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endParaRPr lang="pt-PT" dirty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69" t="-1271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5" y="2181317"/>
            <a:ext cx="2952328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533" y="2193404"/>
            <a:ext cx="3046859" cy="1883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625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Limites infinitos</a:t>
            </a:r>
            <a:endParaRPr lang="pt-P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2296" indent="0">
                  <a:buNone/>
                </a:pPr>
                <a:r>
                  <a:rPr lang="pt-PT" dirty="0" smtClean="0">
                    <a:latin typeface="Cambria Math"/>
                  </a:rPr>
                  <a:t>Exemplo:</a:t>
                </a:r>
              </a:p>
              <a:p>
                <a:pPr marL="82296" indent="0">
                  <a:buNone/>
                </a:pPr>
                <a:endParaRPr lang="pt-PT" dirty="0" smtClean="0">
                  <a:latin typeface="Cambria Math"/>
                </a:endParaRP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PT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pt-PT" b="0" i="1" smtClean="0">
                                  <a:latin typeface="Cambria Math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pt-PT" b="0" i="1" smtClean="0"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pt-PT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pt-PT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PT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pt-PT" b="0" i="1" smtClean="0">
                              <a:latin typeface="Cambria Math"/>
                            </a:rPr>
                            <m:t>+</m:t>
                          </m:r>
                        </m:e>
                      </m:func>
                      <m:func>
                        <m:funcPr>
                          <m:ctrlPr>
                            <a:rPr lang="pt-PT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pt-PT" i="1" smtClean="0">
                                  <a:latin typeface="Cambria Math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</m:rad>
                          <m:r>
                            <a:rPr lang="pt-PT" i="1">
                              <a:latin typeface="Cambria Math"/>
                            </a:rPr>
                            <m:t>+</m:t>
                          </m:r>
                        </m:e>
                      </m:func>
                      <m:func>
                        <m:funcPr>
                          <m:ctrlPr>
                            <a:rPr lang="pt-PT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pt-PT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pt-PT" b="0" i="1" smtClean="0">
                          <a:latin typeface="Cambria Math"/>
                        </a:rPr>
                        <m:t>=0+0+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∞=∞</m:t>
                      </m:r>
                    </m:oMath>
                  </m:oMathPara>
                </a14:m>
                <a:endParaRPr lang="pt-PT" dirty="0"/>
              </a:p>
              <a:p>
                <a:pPr marL="82296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76" t="-1652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65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0000" lnSpcReduction="20000"/>
              </a:bodyPr>
              <a:lstStyle/>
              <a:p>
                <a:pPr marL="82296" indent="0">
                  <a:buNone/>
                </a:pPr>
                <a:r>
                  <a:rPr lang="pt-PT" dirty="0" smtClean="0"/>
                  <a:t>Operação com limites </a:t>
                </a:r>
              </a:p>
              <a:p>
                <a:pPr marL="82296" indent="0">
                  <a:buNone/>
                </a:pPr>
                <a:r>
                  <a:rPr lang="pt-PT" dirty="0" smtClean="0"/>
                  <a:t>Seja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𝑐</m:t>
                    </m:r>
                  </m:oMath>
                </a14:m>
                <a:r>
                  <a:rPr lang="pt-PT" dirty="0" smtClean="0"/>
                  <a:t> uma constante e supões que supõe que existem os limites:</a:t>
                </a:r>
              </a:p>
              <a:p>
                <a:pPr marL="82296" indent="0">
                  <a:buNone/>
                </a:pPr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pt-PT" dirty="0" smtClean="0"/>
                  <a:t> 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Então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pt-PT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pt-PT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pt-PT" b="0" i="1" smtClean="0">
                        <a:latin typeface="Cambria Math"/>
                        <a:ea typeface="Cambria Math"/>
                      </a:rPr>
                      <m:t>=</m:t>
                    </m:r>
                    <m:func>
                      <m:funcPr>
                        <m:ctrlPr>
                          <a:rPr lang="pt-PT" i="1">
                            <a:latin typeface="Cambria Math"/>
                            <a:ea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  <a:ea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  <a:ea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b="0" i="1" smtClean="0">
                            <a:latin typeface="Cambria Math"/>
                          </a:rPr>
                          <m:t>+</m:t>
                        </m:r>
                        <m:func>
                          <m:funcPr>
                            <m:ctrlPr>
                              <a:rPr lang="pt-PT" i="1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r>
                              <a:rPr lang="pt-PT" i="1">
                                <a:latin typeface="Cambria Math"/>
                              </a:rPr>
                              <m:t>𝑔</m:t>
                            </m:r>
                            <m:r>
                              <a:rPr lang="pt-PT" i="1">
                                <a:latin typeface="Cambria Math"/>
                              </a:rPr>
                              <m:t>(</m:t>
                            </m:r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pt-PT" i="1" dirty="0" smtClean="0">
                  <a:latin typeface="Cambria Math"/>
                </a:endParaRPr>
              </a:p>
              <a:p>
                <a:pPr marL="82296" indent="0">
                  <a:buNone/>
                </a:pPr>
                <a:endParaRPr lang="pt-PT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pt-PT" i="1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pt-PT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pt-PT" i="1">
                                <a:latin typeface="Cambria Math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pt-PT" i="1">
                        <a:latin typeface="Cambria Math"/>
                        <a:ea typeface="Cambria Math"/>
                      </a:rPr>
                      <m:t>=</m:t>
                    </m:r>
                    <m:func>
                      <m:funcPr>
                        <m:ctrlPr>
                          <a:rPr lang="pt-PT" i="1">
                            <a:latin typeface="Cambria Math"/>
                            <a:ea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  <a:ea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  <a:ea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b="0" i="1" smtClean="0">
                            <a:latin typeface="Cambria Math"/>
                          </a:rPr>
                          <m:t>−</m:t>
                        </m:r>
                        <m:func>
                          <m:funcPr>
                            <m:ctrlPr>
                              <a:rPr lang="pt-PT" i="1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r>
                              <a:rPr lang="pt-PT" i="1">
                                <a:latin typeface="Cambria Math"/>
                              </a:rPr>
                              <m:t>𝑔</m:t>
                            </m:r>
                            <m:r>
                              <a:rPr lang="pt-PT" i="1">
                                <a:latin typeface="Cambria Math"/>
                              </a:rPr>
                              <m:t>(</m:t>
                            </m:r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pt-PT" i="1" dirty="0" smtClean="0">
                  <a:latin typeface="Cambria Math"/>
                </a:endParaRPr>
              </a:p>
              <a:p>
                <a:pPr marL="82296" indent="0">
                  <a:buNone/>
                </a:pPr>
                <a:endParaRPr lang="pt-PT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  <a:ea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  <a:ea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  <a:ea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𝑐</m:t>
                        </m:r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b="0" i="1" smtClean="0">
                            <a:latin typeface="Cambria Math"/>
                          </a:rPr>
                          <m:t>=</m:t>
                        </m:r>
                        <m:r>
                          <a:rPr lang="pt-PT" b="0" i="1" smtClean="0">
                            <a:latin typeface="Cambria Math"/>
                          </a:rPr>
                          <m:t>𝑐</m:t>
                        </m:r>
                        <m:func>
                          <m:funcPr>
                            <m:ctrlPr>
                              <a:rPr lang="pt-PT" i="1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𝑓</m:t>
                            </m:r>
                            <m:r>
                              <a:rPr lang="pt-PT" i="1">
                                <a:latin typeface="Cambria Math"/>
                              </a:rPr>
                              <m:t>(</m:t>
                            </m:r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pt-PT" i="1" dirty="0" smtClean="0">
                  <a:latin typeface="Cambria Math"/>
                </a:endParaRPr>
              </a:p>
              <a:p>
                <a:pPr marL="82296" indent="0">
                  <a:buNone/>
                </a:pPr>
                <a:endParaRPr lang="pt-PT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pt-PT" i="1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pt-PT" i="1" smtClean="0"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r>
                              <a:rPr lang="pt-PT" i="1">
                                <a:latin typeface="Cambria Math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pt-PT" i="1">
                        <a:latin typeface="Cambria Math"/>
                        <a:ea typeface="Cambria Math"/>
                      </a:rPr>
                      <m:t>=</m:t>
                    </m:r>
                    <m:func>
                      <m:funcPr>
                        <m:ctrlPr>
                          <a:rPr lang="pt-PT" i="1">
                            <a:latin typeface="Cambria Math"/>
                            <a:ea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  <a:ea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  <a:ea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pt-PT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i="1" smtClean="0">
                            <a:latin typeface="Cambria Math"/>
                            <a:ea typeface="Cambria Math"/>
                          </a:rPr>
                          <m:t>∙</m:t>
                        </m:r>
                        <m:func>
                          <m:funcPr>
                            <m:ctrlPr>
                              <a:rPr lang="pt-PT" i="1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r>
                              <a:rPr lang="pt-PT" i="1">
                                <a:latin typeface="Cambria Math"/>
                              </a:rPr>
                              <m:t>𝑔</m:t>
                            </m:r>
                            <m:r>
                              <a:rPr lang="pt-PT" i="1">
                                <a:latin typeface="Cambria Math"/>
                              </a:rPr>
                              <m:t>(</m:t>
                            </m:r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pt-PT" i="1" dirty="0" smtClean="0">
                  <a:latin typeface="Cambria Math"/>
                </a:endParaRPr>
              </a:p>
              <a:p>
                <a:endParaRPr lang="pt-PT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/>
                              </a:rPr>
                              <m:t>𝑓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pt-PT" b="0" i="1" smtClean="0">
                                <a:latin typeface="Cambria Math"/>
                              </a:rPr>
                              <m:t>𝑔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)</m:t>
                            </m:r>
                          </m:den>
                        </m:f>
                        <m:r>
                          <a:rPr lang="pt-PT" b="0" i="1" smtClean="0">
                            <a:latin typeface="Cambria Math"/>
                          </a:rPr>
                          <m:t>=</m:t>
                        </m:r>
                        <m:func>
                          <m:func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 b="0" i="0" smtClean="0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pt-PT" b="0" i="1" smtClean="0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pt-PT" b="0" i="1" smtClean="0">
                                            <a:latin typeface="Cambria Math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PT" b="0" i="0" smtClean="0">
                                            <a:latin typeface="Cambria Math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lang="pt-PT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pt-PT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→</m:t>
                                        </m:r>
                                        <m:r>
                                          <a:rPr lang="pt-PT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𝑎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𝑓</m:t>
                                    </m:r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func>
                              </m:num>
                              <m:den>
                                <m:func>
                                  <m:funcPr>
                                    <m:ctrlPr>
                                      <a:rPr lang="pt-PT" b="0" i="1" smtClean="0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pt-PT" b="0" i="1" smtClean="0">
                                            <a:latin typeface="Cambria Math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PT" b="0" i="0" smtClean="0">
                                            <a:latin typeface="Cambria Math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lang="pt-PT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pt-PT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→</m:t>
                                        </m:r>
                                        <m:r>
                                          <a:rPr lang="pt-PT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𝑎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𝑔</m:t>
                                    </m:r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func>
                              </m:den>
                            </m:f>
                          </m:e>
                        </m:func>
                      </m:e>
                    </m:func>
                  </m:oMath>
                </a14:m>
                <a:r>
                  <a:rPr lang="pt-PT" i="1" dirty="0" smtClean="0">
                    <a:latin typeface="Cambria Math"/>
                  </a:rPr>
                  <a:t>; g</a:t>
                </a:r>
                <a14:m>
                  <m:oMath xmlns:m="http://schemas.openxmlformats.org/officeDocument/2006/math">
                    <m:r>
                      <a:rPr lang="pt-PT" b="0" i="1" dirty="0" smtClean="0">
                        <a:latin typeface="Cambria Math"/>
                      </a:rPr>
                      <m:t>(</m:t>
                    </m:r>
                    <m:r>
                      <a:rPr lang="pt-PT" b="0" i="1" dirty="0" smtClean="0">
                        <a:latin typeface="Cambria Math"/>
                      </a:rPr>
                      <m:t>𝑥</m:t>
                    </m:r>
                    <m:r>
                      <a:rPr lang="pt-PT" b="0" i="1" dirty="0" smtClean="0">
                        <a:latin typeface="Cambria Math"/>
                      </a:rPr>
                      <m:t>)≠0</m:t>
                    </m:r>
                  </m:oMath>
                </a14:m>
                <a:endParaRPr lang="pt-PT" i="1" dirty="0" smtClean="0">
                  <a:latin typeface="Cambria Math"/>
                </a:endParaRPr>
              </a:p>
              <a:p>
                <a:endParaRPr lang="pt-PT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144" b="-381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6682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endParaRPr lang="pt-PT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pt-PT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pt-PT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  <m:r>
                          <a:rPr lang="pt-PT" b="0" i="1" smtClean="0"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pt-PT" b="0" i="1" smtClean="0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pt-PT" b="0" i="1" smtClean="0">
                                            <a:latin typeface="Cambria Math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PT" b="0" i="0" smtClean="0">
                                            <a:latin typeface="Cambria Math"/>
                                          </a:rPr>
                                          <m:t>lim</m:t>
                                        </m:r>
                                      </m:e>
                                      <m:lim>
                                        <m:r>
                                          <a:rPr lang="pt-PT" b="0" i="1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pt-PT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→</m:t>
                                        </m:r>
                                        <m:r>
                                          <a:rPr lang="pt-PT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𝑎</m:t>
                                        </m:r>
                                      </m:lim>
                                    </m:limLow>
                                  </m:fName>
                                  <m:e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𝑓</m:t>
                                    </m:r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𝑐</m:t>
                                    </m:r>
                                    <m:r>
                                      <a:rPr lang="pt-PT" b="0" i="1" smtClean="0"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</m:func>
                              </m:e>
                            </m:d>
                          </m:e>
                          <m:sup>
                            <m:r>
                              <a:rPr lang="pt-PT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pt-PT" b="0" i="1" smtClean="0">
                            <a:latin typeface="Cambria Math"/>
                          </a:rPr>
                          <m:t>𝑐</m:t>
                        </m:r>
                      </m:e>
                    </m:func>
                    <m:r>
                      <a:rPr lang="pt-PT" b="0" i="1" smtClean="0">
                        <a:latin typeface="Cambria Math"/>
                      </a:rPr>
                      <m:t>=</m:t>
                    </m:r>
                    <m:r>
                      <a:rPr lang="pt-PT" b="0" i="1" smtClean="0">
                        <a:latin typeface="Cambria Math"/>
                      </a:rPr>
                      <m:t>𝑐</m:t>
                    </m:r>
                  </m:oMath>
                </a14:m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func>
                    <m:r>
                      <a:rPr lang="pt-PT" i="1">
                        <a:latin typeface="Cambria Math"/>
                      </a:rPr>
                      <m:t>=</m:t>
                    </m:r>
                    <m:r>
                      <a:rPr lang="pt-PT" i="1">
                        <a:latin typeface="Cambria Math"/>
                      </a:rPr>
                      <m:t>𝑎</m:t>
                    </m:r>
                  </m:oMath>
                </a14:m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PT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pt-PT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pt-PT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pt-PT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pt-PT" dirty="0" smtClean="0"/>
                  <a:t>; </a:t>
                </a:r>
                <a14:m>
                  <m:oMath xmlns:m="http://schemas.openxmlformats.org/officeDocument/2006/math">
                    <m:r>
                      <a:rPr lang="pt-PT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pt-PT" dirty="0"/>
                  <a:t> é inteiro </a:t>
                </a:r>
                <a:r>
                  <a:rPr lang="pt-PT" dirty="0" smtClean="0"/>
                  <a:t>positivo.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ad>
                          <m:radPr>
                            <m:ctrlPr>
                              <a:rPr lang="pt-PT" i="1" smtClean="0">
                                <a:latin typeface="Cambria Math"/>
                                <a:ea typeface="Cambria Math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deg>
                          <m:e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</m:rad>
                      </m:e>
                    </m:func>
                    <m:r>
                      <a:rPr lang="pt-PT" i="1">
                        <a:latin typeface="Cambria Math"/>
                      </a:rPr>
                      <m:t>=</m:t>
                    </m:r>
                    <m:rad>
                      <m:radPr>
                        <m:ctrlPr>
                          <a:rPr lang="pt-PT" i="1" smtClean="0"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pt-PT" b="0" i="1" smtClean="0">
                            <a:latin typeface="Cambria Math"/>
                          </a:rPr>
                          <m:t>𝑛</m:t>
                        </m:r>
                      </m:deg>
                      <m:e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</m:rad>
                  </m:oMath>
                </a14:m>
                <a:r>
                  <a:rPr lang="pt-PT" dirty="0" smtClean="0"/>
                  <a:t>; </a:t>
                </a:r>
                <a14:m>
                  <m:oMath xmlns:m="http://schemas.openxmlformats.org/officeDocument/2006/math">
                    <m:r>
                      <a:rPr lang="pt-PT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pt-PT" dirty="0"/>
                  <a:t> é inteiro </a:t>
                </a:r>
                <a:r>
                  <a:rPr lang="pt-PT" dirty="0" smtClean="0"/>
                  <a:t>positivo 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𝑎</m:t>
                    </m:r>
                    <m:r>
                      <a:rPr lang="pt-PT" b="0" i="1" smtClean="0">
                        <a:latin typeface="Cambria Math"/>
                      </a:rPr>
                      <m:t>&gt;0</m:t>
                    </m:r>
                  </m:oMath>
                </a14:m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ad>
                          <m:radPr>
                            <m:ctrlPr>
                              <a:rPr lang="pt-PT" i="1">
                                <a:latin typeface="Cambria Math"/>
                                <a:ea typeface="Cambria Math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pt-PT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deg>
                          <m:e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𝑓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(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)</m:t>
                            </m:r>
                          </m:e>
                        </m:rad>
                      </m:e>
                    </m:func>
                    <m:r>
                      <a:rPr lang="pt-PT" i="1">
                        <a:latin typeface="Cambria Math"/>
                      </a:rPr>
                      <m:t>=</m:t>
                    </m:r>
                    <m:rad>
                      <m:radPr>
                        <m:ctrlPr>
                          <a:rPr lang="pt-PT" i="1"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pt-PT" i="1">
                            <a:latin typeface="Cambria Math"/>
                          </a:rPr>
                          <m:t>𝑛</m:t>
                        </m:r>
                      </m:deg>
                      <m:e>
                        <m:func>
                          <m:func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PT" i="1" smtClean="0">
                                    <a:latin typeface="Cambria Math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PT" i="0" smtClean="0">
                                    <a:latin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PT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𝑓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)</m:t>
                            </m:r>
                          </m:e>
                        </m:func>
                      </m:e>
                    </m:rad>
                  </m:oMath>
                </a14:m>
                <a:r>
                  <a:rPr lang="pt-PT" dirty="0" smtClean="0"/>
                  <a:t>; </a:t>
                </a:r>
                <a14:m>
                  <m:oMath xmlns:m="http://schemas.openxmlformats.org/officeDocument/2006/math">
                    <m:r>
                      <a:rPr lang="pt-PT" b="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PT" dirty="0" smtClean="0"/>
                  <a:t> é inteiro positivo, se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PT" dirty="0" smtClean="0"/>
                  <a:t> for par, supomos que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&gt;0</m:t>
                    </m:r>
                  </m:oMath>
                </a14:m>
                <a:endParaRPr lang="pt-PT" dirty="0"/>
              </a:p>
              <a:p>
                <a:endParaRPr lang="pt-PT" dirty="0"/>
              </a:p>
              <a:p>
                <a:endParaRPr lang="pt-PT" dirty="0"/>
              </a:p>
              <a:p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638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2296" indent="0">
                  <a:buNone/>
                </a:pPr>
                <a:r>
                  <a:rPr lang="pt-PT" dirty="0" smtClean="0"/>
                  <a:t>Teorema (limites notáveis)</a:t>
                </a:r>
              </a:p>
              <a:p>
                <a:pPr marL="596646" indent="-514350">
                  <a:buAutoNum type="arabicParenR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/>
                              </a:rPr>
                              <m:t>𝑠𝑒𝑛𝑥</m:t>
                            </m:r>
                          </m:num>
                          <m:den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endParaRPr lang="pt-PT" dirty="0" smtClean="0"/>
              </a:p>
              <a:p>
                <a:pPr marL="596646" indent="-514350">
                  <a:buAutoNum type="arabicParenR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pt-PT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PT" i="1">
                                        <a:latin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</m:sup>
                        </m:sSup>
                        <m:r>
                          <a:rPr lang="pt-PT" b="0" i="1" smtClean="0">
                            <a:latin typeface="Cambria Math"/>
                          </a:rPr>
                          <m:t>=</m:t>
                        </m:r>
                        <m:r>
                          <a:rPr lang="pt-PT" b="0" i="1" smtClean="0">
                            <a:latin typeface="Cambria Math"/>
                          </a:rPr>
                          <m:t>𝑒</m:t>
                        </m:r>
                      </m:e>
                    </m:func>
                  </m:oMath>
                </a14:m>
                <a:endParaRPr lang="pt-PT" dirty="0" smtClean="0"/>
              </a:p>
              <a:p>
                <a:pPr marL="596646" indent="-514350">
                  <a:buAutoNum type="arabicParenR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/>
                              </a:rPr>
                              <m:t>𝑙𝑛</m:t>
                            </m:r>
                            <m:d>
                              <m:d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1+</m:t>
                                </m:r>
                                <m:r>
                                  <a:rPr lang="pt-PT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num>
                          <m:den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</m:den>
                        </m:f>
                      </m:e>
                    </m:func>
                    <m:r>
                      <a:rPr lang="pt-PT" b="0" i="1" smtClean="0">
                        <a:latin typeface="Cambria Math"/>
                      </a:rPr>
                      <m:t>=1</m:t>
                    </m:r>
                  </m:oMath>
                </a14:m>
                <a:endParaRPr lang="pt-PT" dirty="0" smtClean="0"/>
              </a:p>
              <a:p>
                <a:pPr marL="596646" indent="-514350">
                  <a:buAutoNum type="arabicParenR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PT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1+</m:t>
                                </m:r>
                                <m:r>
                                  <a:rPr lang="pt-PT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pt-PT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pt-PT" b="0" i="1" smtClean="0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PT" b="0" i="1" smtClean="0">
                                    <a:latin typeface="Cambria Math"/>
                                  </a:rPr>
                                  <m:t>𝑥</m:t>
                                </m:r>
                              </m:den>
                            </m:f>
                          </m:sup>
                        </m:sSup>
                      </m:e>
                    </m:func>
                    <m:r>
                      <a:rPr lang="pt-PT" b="0" i="1" smtClean="0">
                        <a:latin typeface="Cambria Math"/>
                      </a:rPr>
                      <m:t>=</m:t>
                    </m:r>
                    <m:r>
                      <a:rPr lang="pt-PT" b="0" i="1" smtClean="0">
                        <a:latin typeface="Cambria Math"/>
                      </a:rPr>
                      <m:t>𝑒</m:t>
                    </m:r>
                  </m:oMath>
                </a14:m>
                <a:endParaRPr lang="pt-PT" dirty="0" smtClean="0"/>
              </a:p>
              <a:p>
                <a:pPr marL="596646" indent="-514350">
                  <a:buAutoNum type="arabicParenR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/>
                              </a:rPr>
                              <m:t>𝑡𝑔𝑥</m:t>
                            </m:r>
                          </m:num>
                          <m:den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</m:den>
                        </m:f>
                        <m:r>
                          <a:rPr lang="pt-PT" b="0" i="1" smtClean="0">
                            <a:latin typeface="Cambria Math"/>
                          </a:rPr>
                          <m:t>=1</m:t>
                        </m:r>
                      </m:e>
                    </m:func>
                  </m:oMath>
                </a14:m>
                <a:endParaRPr lang="pt-PT" dirty="0" smtClean="0"/>
              </a:p>
              <a:p>
                <a:pPr marL="596646" indent="-514350">
                  <a:buAutoNum type="arabicParenR"/>
                </a:pPr>
                <a:endParaRPr lang="pt-PT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76" t="-1652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83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Limite de função</a:t>
            </a:r>
            <a:endParaRPr lang="pt-P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82296" indent="0">
                  <a:buNone/>
                </a:pPr>
                <a:r>
                  <a:rPr lang="pt-PT" b="1" dirty="0" smtClean="0"/>
                  <a:t>Definição precisa de limite.</a:t>
                </a:r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pt-PT" b="0" i="1" smtClean="0">
                            <a:latin typeface="Cambria Math"/>
                          </a:rPr>
                          <m:t>𝑓</m:t>
                        </m:r>
                        <m:r>
                          <a:rPr lang="pt-PT" b="0" i="1" smtClean="0">
                            <a:latin typeface="Cambria Math"/>
                          </a:rPr>
                          <m:t>(</m:t>
                        </m:r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  <m:r>
                          <a:rPr lang="pt-PT" b="0" i="1" smtClean="0">
                            <a:latin typeface="Cambria Math"/>
                          </a:rPr>
                          <m:t>)</m:t>
                        </m:r>
                      </m:e>
                    </m:func>
                    <m:r>
                      <a:rPr lang="pt-PT" b="0" i="1" smtClean="0">
                        <a:latin typeface="Cambria Math"/>
                      </a:rPr>
                      <m:t>=</m:t>
                    </m:r>
                    <m:r>
                      <a:rPr lang="pt-PT" b="0" i="1" smtClean="0">
                        <a:latin typeface="Cambria Math"/>
                      </a:rPr>
                      <m:t>𝐿</m:t>
                    </m:r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Para todo número </a:t>
                </a:r>
                <a14:m>
                  <m:oMath xmlns:m="http://schemas.openxmlformats.org/officeDocument/2006/math">
                    <m:r>
                      <a:rPr lang="pt-PT" i="1" smtClean="0">
                        <a:latin typeface="Cambria Math"/>
                        <a:ea typeface="Cambria Math"/>
                      </a:rPr>
                      <m:t>𝜀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&gt;0, </m:t>
                    </m:r>
                  </m:oMath>
                </a14:m>
                <a:r>
                  <a:rPr lang="pt-PT" dirty="0" smtClean="0"/>
                  <a:t> existe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  <a:ea typeface="Cambria Math"/>
                      </a:rPr>
                      <m:t>𝛿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&gt;0</m:t>
                    </m:r>
                  </m:oMath>
                </a14:m>
                <a:r>
                  <a:rPr lang="pt-PT" dirty="0" smtClean="0"/>
                  <a:t> tal que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PT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pt-PT" b="0" i="1" smtClean="0">
                            <a:latin typeface="Cambria Math"/>
                          </a:rPr>
                          <m:t>−</m:t>
                        </m:r>
                        <m:r>
                          <a:rPr lang="pt-PT" b="0" i="1" smtClean="0">
                            <a:latin typeface="Cambria Math"/>
                          </a:rPr>
                          <m:t>𝐿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&lt;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pt-PT" dirty="0" smtClean="0"/>
                  <a:t> sempre que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0&lt;</m:t>
                    </m:r>
                    <m:d>
                      <m:dPr>
                        <m:begChr m:val="|"/>
                        <m:endChr m:val="|"/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  <m:r>
                          <a:rPr lang="pt-PT" b="0" i="1" smtClean="0">
                            <a:latin typeface="Cambria Math"/>
                          </a:rPr>
                          <m:t>−</m:t>
                        </m:r>
                        <m:r>
                          <a:rPr lang="pt-PT" b="0" i="1" smtClean="0">
                            <a:latin typeface="Cambria Math"/>
                          </a:rPr>
                          <m:t>𝑎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&lt;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𝛿</m:t>
                    </m:r>
                  </m:oMath>
                </a14:m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Exemplo: prove que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→3</m:t>
                            </m:r>
                          </m:lim>
                        </m:limLow>
                      </m:fName>
                      <m:e>
                        <m:r>
                          <a:rPr lang="pt-PT" b="0" i="1" smtClean="0">
                            <a:latin typeface="Cambria Math"/>
                          </a:rPr>
                          <m:t>(4</m:t>
                        </m:r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  <m:r>
                          <a:rPr lang="pt-PT" b="0" i="1" smtClean="0">
                            <a:latin typeface="Cambria Math"/>
                          </a:rPr>
                          <m:t>−5)</m:t>
                        </m:r>
                      </m:e>
                    </m:func>
                    <m:r>
                      <a:rPr lang="pt-PT" b="0" i="1" smtClean="0">
                        <a:latin typeface="Cambria Math"/>
                      </a:rPr>
                      <m:t>=7</m:t>
                    </m:r>
                  </m:oMath>
                </a14:m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Solução:</a:t>
                </a:r>
              </a:p>
              <a:p>
                <a:pPr marL="82296" indent="0">
                  <a:buNone/>
                </a:pPr>
                <a:r>
                  <a:rPr lang="pt-PT" dirty="0" smtClean="0">
                    <a:ea typeface="Cambria Math"/>
                  </a:rPr>
                  <a:t>Qualquer </a:t>
                </a:r>
                <a14:m>
                  <m:oMath xmlns:m="http://schemas.openxmlformats.org/officeDocument/2006/math">
                    <m:r>
                      <a:rPr lang="pt-PT" i="1" smtClean="0">
                        <a:latin typeface="Cambria Math"/>
                        <a:ea typeface="Cambria Math"/>
                      </a:rPr>
                      <m:t>𝜀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&gt;0,</m:t>
                    </m:r>
                  </m:oMath>
                </a14:m>
                <a:r>
                  <a:rPr lang="pt-PT" dirty="0" smtClean="0"/>
                  <a:t> existe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  <a:ea typeface="Cambria Math"/>
                      </a:rPr>
                      <m:t>𝛿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&gt;0</m:t>
                    </m:r>
                  </m:oMath>
                </a14:m>
                <a:r>
                  <a:rPr lang="pt-PT" dirty="0" smtClean="0"/>
                  <a:t> tal que </a:t>
                </a:r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PT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(4</m:t>
                        </m:r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  <m:r>
                          <a:rPr lang="pt-PT" b="0" i="1" smtClean="0">
                            <a:latin typeface="Cambria Math"/>
                          </a:rPr>
                          <m:t>−5)−7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&lt;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pt-PT" dirty="0" smtClean="0"/>
                  <a:t> sempre que </a:t>
                </a:r>
                <a14:m>
                  <m:oMath xmlns:m="http://schemas.openxmlformats.org/officeDocument/2006/math">
                    <m:r>
                      <a:rPr lang="pt-PT" dirty="0" smtClean="0">
                        <a:latin typeface="Cambria Math"/>
                      </a:rPr>
                      <m:t>0</m:t>
                    </m:r>
                    <m:r>
                      <a:rPr lang="pt-PT" b="0" i="0" dirty="0" smtClean="0">
                        <a:latin typeface="Cambria Math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pt-PT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  <m:r>
                          <a:rPr lang="pt-PT" b="0" i="1" smtClean="0">
                            <a:latin typeface="Cambria Math"/>
                          </a:rPr>
                          <m:t>−3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&lt;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𝛿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⟹</m:t>
                    </m:r>
                    <m:d>
                      <m:dPr>
                        <m:begChr m:val="|"/>
                        <m:endChr m:val="|"/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PT" i="1">
                            <a:latin typeface="Cambria Math"/>
                          </a:rPr>
                          <m:t>4</m:t>
                        </m:r>
                        <m:r>
                          <a:rPr lang="pt-PT" i="1">
                            <a:latin typeface="Cambria Math"/>
                          </a:rPr>
                          <m:t>𝑥</m:t>
                        </m:r>
                        <m:r>
                          <a:rPr lang="pt-PT" i="1">
                            <a:latin typeface="Cambria Math"/>
                          </a:rPr>
                          <m:t>−5−7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4</m:t>
                        </m:r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  <m:r>
                          <a:rPr lang="pt-PT" b="0" i="1" smtClean="0">
                            <a:latin typeface="Cambria Math"/>
                          </a:rPr>
                          <m:t>−12</m:t>
                        </m:r>
                      </m:e>
                    </m:d>
                    <m:r>
                      <a:rPr lang="pt-PT" b="0" i="1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4</m:t>
                        </m:r>
                        <m:d>
                          <m:d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−3</m:t>
                            </m:r>
                          </m:e>
                        </m:d>
                      </m:e>
                    </m:d>
                    <m:r>
                      <a:rPr lang="pt-PT" b="0" i="1" smtClean="0">
                        <a:latin typeface="Cambria Math"/>
                      </a:rPr>
                      <m:t>=4</m:t>
                    </m:r>
                    <m:d>
                      <m:dPr>
                        <m:begChr m:val="|"/>
                        <m:endChr m:val="|"/>
                        <m:ctrlPr>
                          <a:rPr lang="pt-PT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  <m:r>
                          <a:rPr lang="pt-PT" b="0" i="1" smtClean="0">
                            <a:latin typeface="Cambria Math"/>
                          </a:rPr>
                          <m:t>−3</m:t>
                        </m:r>
                      </m:e>
                    </m:d>
                    <m:r>
                      <a:rPr lang="pt-PT" b="0" i="0" smtClean="0">
                        <a:latin typeface="Cambria Math"/>
                      </a:rPr>
                      <m:t>&lt;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/>
                        <a:ea typeface="Cambria Math"/>
                      </a:rPr>
                      <m:t>ε</m:t>
                    </m:r>
                  </m:oMath>
                </a14:m>
                <a:r>
                  <a:rPr lang="pt-PT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  <a:ea typeface="Cambria Math"/>
                      </a:rPr>
                      <m:t>⟹</m:t>
                    </m:r>
                  </m:oMath>
                </a14:m>
                <a:r>
                  <a:rPr lang="pt-PT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PT" i="1">
                            <a:latin typeface="Cambria Math"/>
                          </a:rPr>
                        </m:ctrlPr>
                      </m:dPr>
                      <m:e>
                        <m:r>
                          <a:rPr lang="pt-PT" i="1">
                            <a:latin typeface="Cambria Math"/>
                          </a:rPr>
                          <m:t>𝑥</m:t>
                        </m:r>
                        <m:r>
                          <a:rPr lang="pt-PT" i="1">
                            <a:latin typeface="Cambria Math"/>
                          </a:rPr>
                          <m:t>−3</m:t>
                        </m:r>
                      </m:e>
                    </m:d>
                    <m:r>
                      <a:rPr lang="pt-PT">
                        <a:latin typeface="Cambria Math"/>
                      </a:rPr>
                      <m:t>&lt;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i="1">
                            <a:latin typeface="Cambria Math"/>
                            <a:ea typeface="Cambria Math"/>
                          </a:rPr>
                          <m:t>ε</m:t>
                        </m:r>
                      </m:num>
                      <m:den>
                        <m:r>
                          <a:rPr lang="pt-PT" b="0" i="0" smtClean="0">
                            <a:latin typeface="Cambria Math"/>
                            <a:ea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pt-PT" dirty="0" smtClean="0">
                  <a:ea typeface="Cambria Math"/>
                </a:endParaRPr>
              </a:p>
              <a:p>
                <a:pPr marL="82296" indent="0">
                  <a:buNone/>
                </a:pPr>
                <a:r>
                  <a:rPr lang="pt-PT" dirty="0" smtClean="0">
                    <a:ea typeface="Cambria Math"/>
                  </a:rPr>
                  <a:t>Logo </a:t>
                </a:r>
                <a14:m>
                  <m:oMath xmlns:m="http://schemas.openxmlformats.org/officeDocument/2006/math">
                    <m:r>
                      <a:rPr lang="pt-PT" i="1" smtClean="0">
                        <a:latin typeface="Cambria Math"/>
                        <a:ea typeface="Cambria Math"/>
                      </a:rPr>
                      <m:t>𝛿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𝜀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pt-PT" dirty="0" smtClean="0">
                    <a:ea typeface="Cambria Math"/>
                  </a:rPr>
                  <a:t> </a:t>
                </a: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160" b="-1144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529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smtClean="0"/>
              <a:t>Limite de função</a:t>
            </a:r>
            <a:endParaRPr lang="pt-P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2296" indent="0">
                  <a:buNone/>
                </a:pPr>
                <a:r>
                  <a:rPr lang="pt-PT" dirty="0" smtClean="0"/>
                  <a:t>Exemplo: mostre que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→4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PT" b="0" i="1" smtClean="0">
                            <a:latin typeface="Cambria Math"/>
                          </a:rPr>
                          <m:t>=9</m:t>
                        </m:r>
                      </m:e>
                    </m:func>
                  </m:oMath>
                </a14:m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Solução: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i="1" smtClean="0">
                          <a:latin typeface="Cambria Math"/>
                          <a:ea typeface="Cambria Math"/>
                        </a:rPr>
                        <m:t>∀</m:t>
                      </m:r>
                      <m:r>
                        <a:rPr lang="pt-PT" i="1" smtClean="0">
                          <a:latin typeface="Cambria Math"/>
                          <a:ea typeface="Cambria Math"/>
                        </a:rPr>
                        <m:t>𝜀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&gt;0,∃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𝛿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&gt;0:</m:t>
                      </m:r>
                      <m:d>
                        <m:dPr>
                          <m:begChr m:val="|"/>
                          <m:endChr m:val="|"/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−3</m:t>
                          </m:r>
                        </m:e>
                      </m:d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𝛿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⟹</m:t>
                      </m:r>
                      <m:d>
                        <m:dPr>
                          <m:begChr m:val="|"/>
                          <m:endChr m:val="|"/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−9</m:t>
                          </m:r>
                        </m:e>
                      </m:d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𝜀</m:t>
                      </m:r>
                    </m:oMath>
                  </m:oMathPara>
                </a14:m>
                <a:endParaRPr lang="pt-PT" dirty="0" smtClean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PT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PT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pt-PT" i="1">
                              <a:latin typeface="Cambria Math"/>
                              <a:ea typeface="Cambria Math"/>
                            </a:rPr>
                            <m:t>−9</m:t>
                          </m:r>
                        </m:e>
                      </m:d>
                      <m:r>
                        <a:rPr lang="pt-PT" b="0" i="0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/>
                          <a:ea typeface="Cambria Math"/>
                        </a:rPr>
                        <m:t>ε</m:t>
                      </m:r>
                      <m:r>
                        <a:rPr lang="pt-PT" i="1">
                          <a:latin typeface="Cambria Math"/>
                          <a:ea typeface="Cambria Math"/>
                        </a:rPr>
                        <m:t>⟹</m:t>
                      </m:r>
                      <m:d>
                        <m:dPr>
                          <m:begChr m:val="|"/>
                          <m:endChr m:val="|"/>
                          <m:ctrlPr>
                            <a:rPr lang="pt-PT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pt-PT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−3</m:t>
                              </m:r>
                            </m:e>
                          </m:d>
                          <m:d>
                            <m:dPr>
                              <m:ctrlPr>
                                <a:rPr lang="pt-PT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+3</m:t>
                              </m:r>
                            </m:e>
                          </m:d>
                        </m:e>
                      </m:d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−3</m:t>
                          </m:r>
                        </m:e>
                      </m:d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∙</m:t>
                      </m:r>
                      <m:d>
                        <m:dPr>
                          <m:begChr m:val="|"/>
                          <m:endChr m:val="|"/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+3</m:t>
                          </m:r>
                        </m:e>
                      </m:d>
                      <m:r>
                        <a:rPr lang="pt-PT" b="0" i="0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pt-PT" b="0" i="0" smtClean="0">
                          <a:latin typeface="Cambria Math"/>
                          <a:ea typeface="Cambria Math"/>
                        </a:rPr>
                        <m:t>C</m:t>
                      </m:r>
                      <m:d>
                        <m:dPr>
                          <m:begChr m:val="|"/>
                          <m:endChr m:val="|"/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lang="pt-PT" b="0" dirty="0" smtClean="0">
                  <a:ea typeface="Cambria Math"/>
                </a:endParaRPr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  <a:ea typeface="Cambria Math"/>
                      </a:rPr>
                      <m:t>⟹</m:t>
                    </m:r>
                    <m:r>
                      <a:rPr lang="pt-PT" b="0" i="1" smtClean="0">
                        <a:latin typeface="Cambria Math"/>
                        <a:ea typeface="Cambria Math"/>
                      </a:rPr>
                      <m:t>𝐶</m:t>
                    </m:r>
                    <m:d>
                      <m:dPr>
                        <m:begChr m:val="|"/>
                        <m:endChr m:val="|"/>
                        <m:ctrlPr>
                          <a:rPr lang="pt-PT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pt-PT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pt-PT" i="1">
                            <a:latin typeface="Cambria Math"/>
                            <a:ea typeface="Cambria Math"/>
                          </a:rPr>
                          <m:t>−3</m:t>
                        </m:r>
                      </m:e>
                    </m:d>
                    <m:r>
                      <a:rPr lang="pt-PT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pt-PT" i="1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pt-PT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pt-PT" i="1">
                        <a:latin typeface="Cambria Math"/>
                        <a:ea typeface="Cambria Math"/>
                      </a:rPr>
                      <m:t>⟹</m:t>
                    </m:r>
                  </m:oMath>
                </a14:m>
                <a:r>
                  <a:rPr lang="pt-PT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PT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pt-PT" i="1">
                            <a:latin typeface="Cambria Math"/>
                            <a:ea typeface="Cambria Math"/>
                          </a:rPr>
                          <m:t>𝑥</m:t>
                        </m:r>
                        <m:r>
                          <a:rPr lang="pt-PT" i="1">
                            <a:latin typeface="Cambria Math"/>
                            <a:ea typeface="Cambria Math"/>
                          </a:rPr>
                          <m:t>−3</m:t>
                        </m:r>
                      </m:e>
                    </m:d>
                    <m:r>
                      <a:rPr lang="pt-PT" i="1">
                        <a:latin typeface="Cambria Math"/>
                        <a:ea typeface="Cambria Math"/>
                      </a:rPr>
                      <m:t>&lt;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pt-PT" i="1">
                            <a:latin typeface="Cambria Math"/>
                            <a:ea typeface="Cambria Math"/>
                          </a:rPr>
                          <m:t>𝜀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𝐶</m:t>
                        </m:r>
                      </m:den>
                    </m:f>
                  </m:oMath>
                </a14:m>
                <a:r>
                  <a:rPr lang="pt-PT" dirty="0">
                    <a:ea typeface="Cambria Math"/>
                  </a:rPr>
                  <a:t> </a:t>
                </a:r>
                <a:endParaRPr lang="pt-PT" dirty="0"/>
              </a:p>
              <a:p>
                <a:pPr marL="82296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76" t="-1525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333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2296" indent="0">
                  <a:buNone/>
                </a:pPr>
                <a:r>
                  <a:rPr lang="pt-PT" dirty="0" smtClean="0"/>
                  <a:t>Cálculo de limites</a:t>
                </a:r>
              </a:p>
              <a:p>
                <a:pPr marL="82296" indent="0">
                  <a:buNone/>
                </a:pPr>
                <a:r>
                  <a:rPr lang="pt-PT" dirty="0" smtClean="0"/>
                  <a:t>Indeterminações: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PT" i="1">
                              <a:latin typeface="Cambria Math"/>
                            </a:rPr>
                            <m:t>0</m:t>
                          </m:r>
                        </m:num>
                        <m:den>
                          <m:r>
                            <a:rPr lang="pt-PT" i="1">
                              <a:latin typeface="Cambria Math"/>
                            </a:rPr>
                            <m:t>0</m:t>
                          </m:r>
                        </m:den>
                      </m:f>
                      <m:r>
                        <a:rPr lang="pt-PT" i="1">
                          <a:latin typeface="Cambria Math"/>
                        </a:rPr>
                        <m:t>, </m:t>
                      </m:r>
                      <m:sSup>
                        <m:sSupPr>
                          <m:ctrlPr>
                            <a:rPr lang="pt-PT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PT" i="1">
                              <a:latin typeface="Cambria Math"/>
                            </a:rPr>
                            <m:t>0</m:t>
                          </m:r>
                        </m:e>
                        <m:sup>
                          <m:r>
                            <a:rPr lang="pt-PT" i="1"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pt-PT" i="1">
                          <a:latin typeface="Cambria Math"/>
                        </a:rPr>
                        <m:t>, 0</m:t>
                      </m:r>
                      <m:r>
                        <a:rPr lang="pt-PT" i="1">
                          <a:latin typeface="Cambria Math"/>
                          <a:ea typeface="Cambria Math"/>
                        </a:rPr>
                        <m:t>∙∞, </m:t>
                      </m:r>
                      <m:sSup>
                        <m:sSupPr>
                          <m:ctrlPr>
                            <a:rPr lang="pt-PT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pt-PT" i="1">
                              <a:latin typeface="Cambria Math"/>
                              <a:ea typeface="Cambria Math"/>
                            </a:rPr>
                            <m:t>∞</m:t>
                          </m:r>
                        </m:e>
                        <m:sup>
                          <m:r>
                            <a:rPr lang="pt-PT" i="1">
                              <a:latin typeface="Cambria Math"/>
                              <a:ea typeface="Cambria Math"/>
                            </a:rPr>
                            <m:t>0</m:t>
                          </m:r>
                        </m:sup>
                      </m:sSup>
                      <m:r>
                        <a:rPr lang="pt-PT" i="1">
                          <a:latin typeface="Cambria Math"/>
                          <a:ea typeface="Cambria Math"/>
                        </a:rPr>
                        <m:t>, ∞−∞, </m:t>
                      </m:r>
                      <m:sSup>
                        <m:sSupPr>
                          <m:ctrlPr>
                            <a:rPr lang="pt-PT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pt-PT" i="1">
                              <a:latin typeface="Cambria Math"/>
                              <a:ea typeface="Cambria Math"/>
                            </a:rPr>
                            <m:t>1</m:t>
                          </m:r>
                        </m:e>
                        <m:sup>
                          <m:r>
                            <a:rPr lang="pt-PT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</m:sSup>
                    </m:oMath>
                  </m:oMathPara>
                </a14:m>
                <a:endParaRPr lang="pt-PT" dirty="0"/>
              </a:p>
              <a:p>
                <a:pPr marL="82296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76" t="-1652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569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82296" indent="0">
                  <a:buNone/>
                </a:pPr>
                <a:r>
                  <a:rPr lang="pt-PT" dirty="0" smtClean="0"/>
                  <a:t>Exemplo:  calcula limite: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→1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PT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PT" b="0" i="1" smtClean="0">
                                <a:latin typeface="Cambria Math"/>
                              </a:rPr>
                              <m:t>−1</m:t>
                            </m:r>
                          </m:num>
                          <m:den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−1</m:t>
                            </m:r>
                          </m:den>
                        </m:f>
                      </m:e>
                    </m:func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/>
              </a:p>
              <a:p>
                <a:pPr marL="82296" indent="0">
                  <a:buNone/>
                </a:pPr>
                <a:r>
                  <a:rPr lang="pt-PT" dirty="0" smtClean="0"/>
                  <a:t>Solução</a:t>
                </a:r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→1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i="1">
                                <a:latin typeface="Cambria Math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PT" i="1">
                                <a:latin typeface="Cambria Math"/>
                              </a:rPr>
                              <m:t>−1</m:t>
                            </m:r>
                          </m:num>
                          <m:den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</a:rPr>
                              <m:t>−1</m:t>
                            </m:r>
                          </m:den>
                        </m:f>
                      </m:e>
                    </m:func>
                    <m:r>
                      <a:rPr lang="pt-PT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PT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1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PT" b="0" i="1" smtClean="0">
                            <a:latin typeface="Cambria Math"/>
                          </a:rPr>
                          <m:t>−1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</a:rPr>
                          <m:t>1−1</m:t>
                        </m:r>
                      </m:den>
                    </m:f>
                    <m:r>
                      <a:rPr lang="pt-PT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</a:rPr>
                          <m:t>0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</a:rPr>
                          <m:t>0</m:t>
                        </m:r>
                      </m:den>
                    </m:f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Para levantar a indeterminação </a:t>
                </a:r>
                <a:r>
                  <a:rPr lang="pt-PT" dirty="0"/>
                  <a:t>f</a:t>
                </a:r>
                <a:r>
                  <a:rPr lang="pt-PT" dirty="0" smtClean="0"/>
                  <a:t>actorizamos o numerador: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PT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PT" i="1"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t-PT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i="1">
                                  <a:latin typeface="Cambria Math"/>
                                </a:rPr>
                                <m:t>−1</m:t>
                              </m:r>
                            </m:den>
                          </m:f>
                        </m:e>
                      </m:func>
                      <m:r>
                        <a:rPr lang="pt-PT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PT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pt-PT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pt-PT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/>
                                </a:rPr>
                                <m:t>−1</m:t>
                              </m:r>
                            </m:den>
                          </m:f>
                        </m:e>
                      </m:func>
                      <m:r>
                        <a:rPr lang="pt-PT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→1</m:t>
                              </m:r>
                            </m:lim>
                          </m:limLow>
                        </m:fName>
                        <m:e>
                          <m:r>
                            <a:rPr lang="pt-PT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PT" b="0" i="1" smtClean="0">
                              <a:latin typeface="Cambria Math"/>
                            </a:rPr>
                            <m:t>+1=1+1=2</m:t>
                          </m:r>
                        </m:e>
                      </m:func>
                    </m:oMath>
                  </m:oMathPara>
                </a14:m>
                <a:endParaRPr lang="pt-PT" dirty="0" smtClean="0"/>
              </a:p>
              <a:p>
                <a:pPr marL="596646" indent="-514350">
                  <a:buAutoNum type="alphaLcParenR"/>
                </a:pPr>
                <a:endParaRPr lang="pt-PT" dirty="0" smtClean="0"/>
              </a:p>
              <a:p>
                <a:pPr marL="596646" indent="-514350">
                  <a:buAutoNum type="alphaLcParenR"/>
                </a:pPr>
                <a:endParaRPr lang="pt-PT" dirty="0" smtClean="0"/>
              </a:p>
              <a:p>
                <a:pPr marL="82296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16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94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82296" indent="0">
                  <a:buNone/>
                </a:pPr>
                <a:r>
                  <a:rPr lang="pt-PT" dirty="0" smtClean="0"/>
                  <a:t>Exemplo: Calcule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pt-PT" b="0" i="1" smtClean="0">
                                <a:latin typeface="Cambria Math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PT" b="0" i="1" smtClean="0">
                                <a:latin typeface="Cambria Math"/>
                              </a:rPr>
                              <m:t>+1</m:t>
                            </m:r>
                          </m:num>
                          <m:den>
                            <m:r>
                              <a:rPr lang="pt-PT" b="0" i="1" smtClean="0">
                                <a:latin typeface="Cambria Math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PT" b="0" i="1" smtClean="0">
                                <a:latin typeface="Cambria Math"/>
                              </a:rPr>
                              <m:t>+5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Solução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PT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pt-PT" i="1">
                                <a:latin typeface="Cambria Math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PT" b="0" i="1" smtClean="0">
                                <a:latin typeface="Cambria Math"/>
                              </a:rPr>
                              <m:t>+1</m:t>
                            </m:r>
                          </m:num>
                          <m:den>
                            <m:r>
                              <a:rPr lang="pt-PT" b="0" i="1" smtClean="0">
                                <a:latin typeface="Cambria Math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PT" b="0" i="1" smtClean="0">
                                <a:latin typeface="Cambria Math"/>
                              </a:rPr>
                              <m:t>+5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</m:den>
                        </m:f>
                      </m:e>
                    </m:func>
                    <m:r>
                      <a:rPr lang="pt-PT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PT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num>
                      <m:den>
                        <m:r>
                          <a:rPr lang="pt-PT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den>
                    </m:f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BR" dirty="0" smtClean="0"/>
                  <a:t>Para </a:t>
                </a:r>
                <a:r>
                  <a:rPr lang="pt-BR" dirty="0"/>
                  <a:t>levantar esta indeterminção dividimos o numerador e o denominador pelo maior grau da potência de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BR" dirty="0" smtClean="0"/>
                  <a:t>.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PT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pt-PT" i="1">
                                  <a:latin typeface="Cambria Math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PT" i="1">
                                  <a:latin typeface="Cambria Math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pt-PT" i="1">
                                  <a:latin typeface="Cambria Math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PT" i="1">
                                  <a:latin typeface="Cambria Math"/>
                                </a:rPr>
                                <m:t>+5</m:t>
                              </m:r>
                              <m:r>
                                <a:rPr lang="pt-PT" i="1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2+</m:t>
                                  </m:r>
                                  <m:f>
                                    <m:fPr>
                                      <m:ctrlPr>
                                        <a:rPr lang="pt-PT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PT" b="0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pt-PT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pt-PT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3+</m:t>
                                  </m:r>
                                  <m:f>
                                    <m:fPr>
                                      <m:ctrlPr>
                                        <a:rPr lang="pt-PT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func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pt-PT" b="0" i="1" smtClean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pt-PT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3+</m:t>
                                  </m:r>
                                  <m:f>
                                    <m:fPr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den>
                          </m:f>
                        </m:e>
                      </m:func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pt-PT" b="0" i="1" smtClean="0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PT" b="0" i="1" smtClean="0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  <m:r>
                            <a:rPr lang="pt-PT" b="0" i="1" smtClean="0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pt-PT" b="0" i="1" smtClean="0"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pt-PT" b="0" i="1" smtClean="0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7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764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82296" indent="0">
                  <a:buNone/>
                </a:pPr>
                <a:r>
                  <a:rPr lang="pt-PT" dirty="0" smtClean="0"/>
                  <a:t>Exemplo: calcula o limite</a:t>
                </a:r>
              </a:p>
              <a:p>
                <a:pPr marL="82296" indent="0">
                  <a:buNone/>
                </a:pPr>
                <a:endParaRPr lang="pt-PT" sz="1300" dirty="0" smtClean="0"/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pt-PT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PT" b="0" i="1" smtClean="0">
                                <a:latin typeface="Cambria Math"/>
                              </a:rPr>
                              <m:t>+1</m:t>
                            </m:r>
                          </m:e>
                        </m:rad>
                        <m:r>
                          <a:rPr lang="pt-PT" b="0" i="1" smtClean="0">
                            <a:latin typeface="Cambria Math"/>
                          </a:rPr>
                          <m:t>−</m:t>
                        </m:r>
                        <m:r>
                          <a:rPr lang="pt-PT" b="0" i="1" smtClean="0">
                            <a:latin typeface="Cambria Math"/>
                          </a:rPr>
                          <m:t>𝑥</m:t>
                        </m:r>
                      </m:e>
                    </m:func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Solução</a:t>
                </a:r>
              </a:p>
              <a:p>
                <a:pPr marL="82296" indent="0">
                  <a:buNone/>
                </a:pPr>
                <a:endParaRPr lang="pt-PT" sz="1500" dirty="0" smtClean="0"/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ad>
                          <m:radPr>
                            <m:degHide m:val="on"/>
                            <m:ctrlPr>
                              <a:rPr lang="pt-PT" i="1"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pt-PT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pt-PT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PT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PT" i="1">
                                <a:latin typeface="Cambria Math"/>
                              </a:rPr>
                              <m:t>+1</m:t>
                            </m:r>
                          </m:e>
                        </m:rad>
                        <m:r>
                          <a:rPr lang="pt-PT" i="1">
                            <a:latin typeface="Cambria Math"/>
                          </a:rPr>
                          <m:t>−</m:t>
                        </m:r>
                        <m:r>
                          <a:rPr lang="pt-PT" i="1">
                            <a:latin typeface="Cambria Math"/>
                          </a:rPr>
                          <m:t>𝑥</m:t>
                        </m:r>
                        <m:r>
                          <a:rPr lang="pt-PT" i="1">
                            <a:latin typeface="Cambria Math"/>
                          </a:rPr>
                          <m:t>=∞−∞</m:t>
                        </m:r>
                      </m:e>
                    </m:func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Para levantar a indeterminação multiplicamos pelo conjugado 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PT" i="1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pt-PT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pt-PT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pt-PT" i="1">
                            <a:latin typeface="Cambria Math"/>
                          </a:rPr>
                          <m:t>+1</m:t>
                        </m:r>
                      </m:e>
                    </m:rad>
                    <m:r>
                      <a:rPr lang="pt-PT" i="1">
                        <a:latin typeface="Cambria Math"/>
                      </a:rPr>
                      <m:t>−</m:t>
                    </m:r>
                    <m:r>
                      <a:rPr lang="pt-PT" i="1">
                        <a:latin typeface="Cambria Math"/>
                      </a:rPr>
                      <m:t>𝑥</m:t>
                    </m:r>
                  </m:oMath>
                </a14:m>
                <a:r>
                  <a:rPr lang="pt-PT" dirty="0" smtClean="0"/>
                  <a:t> no numerador e no denominador :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PT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PT" i="1">
                                  <a:latin typeface="Cambria Math"/>
                                </a:rPr>
                                <m:t>+1</m:t>
                              </m:r>
                            </m:e>
                          </m:rad>
                          <m:r>
                            <a:rPr lang="pt-PT" i="1">
                              <a:latin typeface="Cambria Math"/>
                            </a:rPr>
                            <m:t>−</m:t>
                          </m:r>
                          <m:r>
                            <a:rPr lang="pt-PT" i="1">
                              <a:latin typeface="Cambria Math"/>
                            </a:rPr>
                            <m:t>𝑥</m:t>
                          </m:r>
                          <m:r>
                            <a:rPr lang="pt-PT" i="1">
                              <a:latin typeface="Cambria Math"/>
                            </a:rPr>
                            <m:t>=</m:t>
                          </m:r>
                          <m:func>
                            <m:funcPr>
                              <m:ctrlPr>
                                <a:rPr lang="pt-PT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PT" i="1" smtClean="0">
                                      <a:latin typeface="Cambria Math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PT" i="0" smtClean="0">
                                      <a:latin typeface="Cambria Math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pt-PT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pt-PT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pt-PT" i="1" smtClean="0">
                                              <a:latin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p>
                                            <m:sSupPr>
                                              <m:ctrlPr>
                                                <a:rPr lang="pt-PT" b="0" i="1" smtClean="0">
                                                  <a:latin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PT" b="0" i="1" smtClean="0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pt-PT" b="0" i="1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pt-PT" b="0" i="1" smtClean="0">
                                              <a:latin typeface="Cambria Math"/>
                                            </a:rPr>
                                            <m:t>+1</m:t>
                                          </m:r>
                                        </m:e>
                                      </m:rad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pt-PT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pt-PT" i="1">
                                              <a:latin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p>
                                            <m:sSupPr>
                                              <m:ctrlPr>
                                                <a:rPr lang="pt-PT" i="1">
                                                  <a:latin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PT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pt-PT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+1</m:t>
                                          </m:r>
                                        </m:e>
                                      </m:rad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pt-PT" i="1">
                                              <a:latin typeface="Cambria Math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sSup>
                                            <m:sSupPr>
                                              <m:ctrlPr>
                                                <a:rPr lang="pt-PT" i="1">
                                                  <a:latin typeface="Cambria Math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pt-PT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pt-PT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+1</m:t>
                                          </m:r>
                                        </m:e>
                                      </m:rad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  <a:endParaRPr lang="pt-PT" i="1" dirty="0" smtClean="0">
                  <a:latin typeface="Cambria Math"/>
                </a:endParaRP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pt-PT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pt-PT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pt-PT" b="0" i="1" smtClean="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PT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PT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pt-PT" i="1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rad>
                                  <m:r>
                                    <a:rPr lang="pt-PT" i="1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pt-PT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pt-PT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PT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pt-PT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pt-PT" i="1">
                                          <a:latin typeface="Cambria Math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pt-PT" i="1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pt-PT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pt-PT" i="1">
                                          <a:latin typeface="Cambria Math"/>
                                        </a:rPr>
                                        <m:t>+1</m:t>
                                      </m:r>
                                    </m:e>
                                  </m:rad>
                                  <m:r>
                                    <a:rPr lang="pt-PT" i="1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pt-PT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den>
                          </m:f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=0</m:t>
                          </m:r>
                        </m:e>
                      </m:func>
                    </m:oMath>
                  </m:oMathPara>
                </a14:m>
                <a:endParaRPr lang="pt-PT" dirty="0" smtClean="0"/>
              </a:p>
              <a:p>
                <a:pPr marL="82296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906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168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Limite de função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0000" lnSpcReduction="20000"/>
              </a:bodyPr>
              <a:lstStyle/>
              <a:p>
                <a:pPr marL="82296" indent="0">
                  <a:buNone/>
                </a:pPr>
                <a:r>
                  <a:rPr lang="pt-PT" dirty="0" smtClean="0"/>
                  <a:t>Exemplo: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 smtClean="0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 i="0" smtClean="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→1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pt-PT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b="0" i="1" smtClean="0">
                                <a:latin typeface="Cambria Math"/>
                              </a:rPr>
                              <m:t>(1−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𝑥</m:t>
                            </m:r>
                            <m:r>
                              <a:rPr lang="pt-PT" b="0" i="1" smtClean="0">
                                <a:latin typeface="Cambria Math"/>
                              </a:rPr>
                              <m:t>)∙</m:t>
                            </m:r>
                            <m:r>
                              <a:rPr lang="pt-PT" b="0" i="1" smtClean="0">
                                <a:latin typeface="Cambria Math"/>
                                <a:ea typeface="Cambria Math"/>
                              </a:rPr>
                              <m:t>𝑡𝑔</m:t>
                            </m:r>
                            <m:d>
                              <m:dPr>
                                <m:ctrlP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pt-PT" b="0" i="1" smtClean="0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b="0" i="1" smtClean="0">
                                        <a:latin typeface="Cambria Math"/>
                                        <a:ea typeface="Cambria Math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pt-PT" b="0" i="1" smtClean="0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pt-PT" b="0" i="1" smtClean="0">
                                    <a:latin typeface="Cambria Math"/>
                                    <a:ea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Solução</a:t>
                </a:r>
              </a:p>
              <a:p>
                <a:pPr marL="82296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pt-PT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PT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PT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→1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pt-PT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pt-PT" i="1">
                                <a:latin typeface="Cambria Math"/>
                              </a:rPr>
                              <m:t>(1−</m:t>
                            </m:r>
                            <m:r>
                              <a:rPr lang="pt-PT" i="1">
                                <a:latin typeface="Cambria Math"/>
                              </a:rPr>
                              <m:t>𝑥</m:t>
                            </m:r>
                            <m:r>
                              <a:rPr lang="pt-PT" i="1">
                                <a:latin typeface="Cambria Math"/>
                              </a:rPr>
                              <m:t>)∙</m:t>
                            </m:r>
                            <m:r>
                              <a:rPr lang="pt-PT" i="1">
                                <a:latin typeface="Cambria Math"/>
                                <a:ea typeface="Cambria Math"/>
                              </a:rPr>
                              <m:t>𝑡𝑔</m:t>
                            </m:r>
                            <m:d>
                              <m:dPr>
                                <m:ctrlPr>
                                  <a:rPr lang="pt-PT" i="1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pt-PT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PT" i="1">
                                        <a:latin typeface="Cambria Math"/>
                                        <a:ea typeface="Cambria Math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pt-PT" i="1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pt-PT" i="1">
                                    <a:latin typeface="Cambria Math"/>
                                    <a:ea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pt-PT" b="0" i="1" smtClean="0">
                        <a:latin typeface="Cambria Math"/>
                        <a:ea typeface="Cambria Math"/>
                      </a:rPr>
                      <m:t>=0∙∞</m:t>
                    </m:r>
                  </m:oMath>
                </a14:m>
                <a:r>
                  <a:rPr lang="pt-PT" dirty="0" smtClean="0"/>
                  <a:t> 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Para calcular esta indeterminação, fazemos uma substituição: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Seja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/>
                      </a:rPr>
                      <m:t>𝑡</m:t>
                    </m:r>
                    <m:r>
                      <a:rPr lang="pt-PT" b="0" i="1" smtClean="0">
                        <a:latin typeface="Cambria Math"/>
                      </a:rPr>
                      <m:t>=1−</m:t>
                    </m:r>
                    <m:r>
                      <a:rPr lang="pt-PT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pt-PT" dirty="0" smtClean="0"/>
                  <a:t>⟹</a:t>
                </a:r>
                <a14:m>
                  <m:oMath xmlns:m="http://schemas.openxmlformats.org/officeDocument/2006/math">
                    <m:r>
                      <a:rPr lang="pt-PT" b="0" i="1" dirty="0" smtClean="0">
                        <a:latin typeface="Cambria Math"/>
                      </a:rPr>
                      <m:t>𝑥</m:t>
                    </m:r>
                    <m:r>
                      <a:rPr lang="pt-PT" b="0" i="1" dirty="0" smtClean="0">
                        <a:latin typeface="Cambria Math"/>
                      </a:rPr>
                      <m:t>=1−</m:t>
                    </m:r>
                    <m:r>
                      <a:rPr lang="pt-PT" b="0" i="1" dirty="0" smtClean="0">
                        <a:latin typeface="Cambria Math"/>
                      </a:rPr>
                      <m:t>𝑡</m:t>
                    </m:r>
                  </m:oMath>
                </a14:m>
                <a:endParaRPr lang="pt-PT" b="0" dirty="0" smtClean="0"/>
              </a:p>
              <a:p>
                <a:pPr marL="82296" indent="0">
                  <a:buNone/>
                </a:pPr>
                <a:r>
                  <a:rPr lang="pt-PT" dirty="0" smtClean="0"/>
                  <a:t>Como  </a:t>
                </a:r>
                <a14:m>
                  <m:oMath xmlns:m="http://schemas.openxmlformats.org/officeDocument/2006/math">
                    <m:r>
                      <a:rPr lang="pt-PT" b="0" i="1" dirty="0" smtClean="0">
                        <a:latin typeface="Cambria Math"/>
                      </a:rPr>
                      <m:t>𝑥</m:t>
                    </m:r>
                    <m:r>
                      <a:rPr lang="pt-PT" b="0" i="1" dirty="0" smtClean="0">
                        <a:latin typeface="Cambria Math"/>
                        <a:ea typeface="Cambria Math"/>
                      </a:rPr>
                      <m:t>→1</m:t>
                    </m:r>
                    <m:r>
                      <m:rPr>
                        <m:nor/>
                      </m:rPr>
                      <a:rPr lang="pt-PT" dirty="0"/>
                      <m:t>⟹</m:t>
                    </m:r>
                    <m:r>
                      <a:rPr lang="pt-PT" b="0" i="1" dirty="0" smtClean="0">
                        <a:latin typeface="Cambria Math"/>
                        <a:ea typeface="Cambria Math"/>
                      </a:rPr>
                      <m:t>𝑡</m:t>
                    </m:r>
                    <m:r>
                      <a:rPr lang="pt-PT" b="0" i="1" dirty="0" smtClean="0">
                        <a:latin typeface="Cambria Math"/>
                        <a:ea typeface="Cambria Math"/>
                      </a:rPr>
                      <m:t>→0</m:t>
                    </m:r>
                  </m:oMath>
                </a14:m>
                <a:r>
                  <a:rPr lang="pt-PT" dirty="0" smtClean="0"/>
                  <a:t>. </a:t>
                </a:r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r>
                  <a:rPr lang="pt-PT" dirty="0" smtClean="0"/>
                  <a:t>Então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PT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→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PT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pt-PT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pt-PT" i="1">
                                  <a:latin typeface="Cambria Math"/>
                                </a:rPr>
                                <m:t>∙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𝑡𝑔</m:t>
                              </m:r>
                              <m:f>
                                <m:fPr>
                                  <m:ctrlP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(1−</m:t>
                                  </m:r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=</m:t>
                      </m:r>
                      <m:func>
                        <m:funcPr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/>
                                  <a:ea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𝑡𝑔</m:t>
                          </m:r>
                          <m:d>
                            <m:dPr>
                              <m:ctrlP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=</m:t>
                          </m:r>
                          <m:func>
                            <m:funcPr>
                              <m:ctrlPr>
                                <a:rPr lang="pt-PT" i="1">
                                  <a:latin typeface="Cambria Math"/>
                                  <a:ea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PT">
                                      <a:latin typeface="Cambria Math"/>
                                      <a:ea typeface="Cambria Math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𝑐𝑜𝑡𝑔</m:t>
                                  </m:r>
                                  <m:f>
                                    <m:fPr>
                                      <m:ctrlP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  <m:t>𝜋</m:t>
                                      </m:r>
                                      <m:r>
                                        <a:rPr lang="pt-PT" b="0" i="1" smtClean="0">
                                          <a:latin typeface="Cambria Math"/>
                                          <a:ea typeface="Cambria Math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PT">
                                          <a:latin typeface="Cambria Math"/>
                                          <a:ea typeface="Cambria Math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  <m:t>𝑡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  <m:t>→0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∙</m:t>
                                  </m:r>
                                  <m:f>
                                    <m:fPr>
                                      <m:ctrlP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  <m:t>𝑐𝑜𝑠</m:t>
                                      </m:r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/>
                                                  <a:ea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𝜋</m:t>
                                              </m:r>
                                              <m:r>
                                                <a:rPr lang="pt-PT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num>
                                    <m:den>
                                      <m: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  <m:t>𝑠𝑒𝑛</m:t>
                                      </m:r>
                                      <m:box>
                                        <m:boxPr>
                                          <m:ctrlPr>
                                            <a:rPr lang="pt-PT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boxPr>
                                        <m:e>
                                          <m:argPr>
                                            <m:argSz m:val="-1"/>
                                          </m:argPr>
                                          <m:f>
                                            <m:fPr>
                                              <m:ctrlPr>
                                                <a:rPr lang="pt-PT" i="1">
                                                  <a:latin typeface="Cambria Math"/>
                                                  <a:ea typeface="Cambria Math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pt-PT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𝜋</m:t>
                                              </m:r>
                                              <m:r>
                                                <a:rPr lang="pt-PT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pt-PT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box>
                                    </m:den>
                                  </m:f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=</m:t>
                                  </m:r>
                                </m:e>
                              </m:func>
                            </m:e>
                          </m:func>
                        </m:e>
                      </m:func>
                      <m:func>
                        <m:funcPr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/>
                                  <a:ea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pt-PT" i="1">
                              <a:latin typeface="Cambria Math"/>
                              <a:ea typeface="Cambria Math"/>
                            </a:rPr>
                            <m:t>𝑐𝑜𝑠</m:t>
                          </m:r>
                          <m:box>
                            <m:boxPr>
                              <m:ctrlPr>
                                <a:rPr lang="pt-PT" i="1">
                                  <a:latin typeface="Cambria Math"/>
                                  <a:ea typeface="Cambria Math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</m:e>
                      </m:func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∙</m:t>
                      </m:r>
                      <m:func>
                        <m:funcPr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/>
                                  <a:ea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pt-PT" i="1">
                                  <a:latin typeface="Cambria Math"/>
                                  <a:ea typeface="Cambria Math"/>
                                </a:rPr>
                                <m:t>𝑠𝑒𝑛</m:t>
                              </m:r>
                              <m:box>
                                <m:boxPr>
                                  <m:ctrlP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  <m:t>𝜋</m:t>
                                      </m:r>
                                      <m: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box>
                            </m:den>
                          </m:f>
                        </m:e>
                      </m:func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=1∙</m:t>
                      </m:r>
                      <m:func>
                        <m:funcPr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PT" b="0" i="0" smtClean="0">
                                  <a:latin typeface="Cambria Math"/>
                                  <a:ea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𝑠𝑒𝑛</m:t>
                                  </m:r>
                                  <m:box>
                                    <m:boxPr>
                                      <m:ctrlP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pt-PT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PT" i="1">
                                              <a:latin typeface="Cambria Math"/>
                                              <a:ea typeface="Cambria Math"/>
                                            </a:rPr>
                                            <m:t>𝜋</m:t>
                                          </m:r>
                                          <m:r>
                                            <a:rPr lang="pt-PT" i="1">
                                              <a:latin typeface="Cambria Math"/>
                                              <a:ea typeface="Cambria Math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pt-PT" i="1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box>
                                </m:num>
                                <m:den>
                                  <m: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</m:den>
                              </m:f>
                            </m:den>
                          </m:f>
                        </m:e>
                      </m:func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PT" b="0" i="0" smtClean="0">
                                      <a:latin typeface="Cambria Math"/>
                                      <a:ea typeface="Cambria Math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  <m:r>
                                    <a:rPr lang="pt-PT" b="0" i="1" smtClean="0">
                                      <a:latin typeface="Cambria Math"/>
                                      <a:ea typeface="Cambria Math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box>
                                    <m:boxPr>
                                      <m:ctrlPr>
                                        <a:rPr lang="pt-PT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pt-PT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PT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pt-PT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box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𝑠𝑒𝑛</m:t>
                                  </m:r>
                                  <m:box>
                                    <m:boxPr>
                                      <m:ctrlPr>
                                        <a:rPr lang="pt-PT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pt-PT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PT" i="1">
                                              <a:latin typeface="Cambria Math"/>
                                              <a:ea typeface="Cambria Math"/>
                                            </a:rPr>
                                            <m:t>𝜋</m:t>
                                          </m:r>
                                          <m:r>
                                            <a:rPr lang="pt-PT" i="1">
                                              <a:latin typeface="Cambria Math"/>
                                              <a:ea typeface="Cambria Math"/>
                                            </a:rPr>
                                            <m:t>𝑡</m:t>
                                          </m:r>
                                        </m:num>
                                        <m:den>
                                          <m:r>
                                            <a:rPr lang="pt-PT" i="1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box>
                                </m:num>
                                <m:den>
                                  <m:box>
                                    <m:boxPr>
                                      <m:ctrlPr>
                                        <a:rPr lang="pt-PT" i="1" smtClean="0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pt-PT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pt-PT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pt-PT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box>
                                  <m:r>
                                    <a:rPr lang="pt-PT" i="1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func>
                        </m:den>
                      </m:f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PT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pt-PT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pt-PT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num>
                        <m:den>
                          <m:r>
                            <a:rPr lang="pt-PT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endParaRPr lang="pt-PT" dirty="0" smtClean="0"/>
              </a:p>
              <a:p>
                <a:pPr marL="82296" indent="0">
                  <a:buNone/>
                </a:pPr>
                <a:endParaRPr lang="pt-P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889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5928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1625</TotalTime>
  <Words>1992</Words>
  <Application>Microsoft Office PowerPoint</Application>
  <PresentationFormat>On-screen Show (4:3)</PresentationFormat>
  <Paragraphs>187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Solstice</vt:lpstr>
      <vt:lpstr>Limite de Função</vt:lpstr>
      <vt:lpstr>Limite de função</vt:lpstr>
      <vt:lpstr>Limite de função</vt:lpstr>
      <vt:lpstr>Limite de função</vt:lpstr>
      <vt:lpstr>Limite de função</vt:lpstr>
      <vt:lpstr>Limite de função</vt:lpstr>
      <vt:lpstr>PowerPoint Presentation</vt:lpstr>
      <vt:lpstr>Limite de função</vt:lpstr>
      <vt:lpstr>Limite de função</vt:lpstr>
      <vt:lpstr>Limites infinitos</vt:lpstr>
      <vt:lpstr>Limite de função</vt:lpstr>
      <vt:lpstr>Limite de função</vt:lpstr>
      <vt:lpstr>Limite de função</vt:lpstr>
      <vt:lpstr>Limite de função</vt:lpstr>
      <vt:lpstr>Limite de função</vt:lpstr>
      <vt:lpstr>Limite de função</vt:lpstr>
      <vt:lpstr>Limite de função</vt:lpstr>
      <vt:lpstr>Limite de função</vt:lpstr>
      <vt:lpstr>Limite de função</vt:lpstr>
      <vt:lpstr>Limite de função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Limite de função</dc:title>
  <dc:creator>Marta Macufa</dc:creator>
  <cp:lastModifiedBy>Familia Guambe</cp:lastModifiedBy>
  <cp:revision>77</cp:revision>
  <dcterms:created xsi:type="dcterms:W3CDTF">2020-08-25T08:23:19Z</dcterms:created>
  <dcterms:modified xsi:type="dcterms:W3CDTF">2021-05-28T13:59:15Z</dcterms:modified>
</cp:coreProperties>
</file>