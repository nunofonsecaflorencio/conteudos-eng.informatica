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7" r:id="rId2"/>
    <p:sldId id="257" r:id="rId3"/>
    <p:sldId id="259" r:id="rId4"/>
    <p:sldId id="260" r:id="rId5"/>
    <p:sldId id="261" r:id="rId6"/>
    <p:sldId id="262" r:id="rId7"/>
    <p:sldId id="280" r:id="rId8"/>
    <p:sldId id="281" r:id="rId9"/>
    <p:sldId id="282" r:id="rId10"/>
    <p:sldId id="263" r:id="rId11"/>
    <p:sldId id="264" r:id="rId12"/>
    <p:sldId id="265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33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FBD78-06A3-4D32-9AFA-668E17C32551}" type="datetimeFigureOut">
              <a:rPr lang="pt-PT" smtClean="0"/>
              <a:t>30-05-2021</a:t>
            </a:fld>
            <a:endParaRPr lang="pt-PT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0BE29F6-04B7-4BDF-8A55-DC8A8F115704}" type="slidenum">
              <a:rPr lang="pt-PT" smtClean="0"/>
              <a:t>‹#›</a:t>
            </a:fld>
            <a:endParaRPr lang="pt-PT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FBD78-06A3-4D32-9AFA-668E17C32551}" type="datetimeFigureOut">
              <a:rPr lang="pt-PT" smtClean="0"/>
              <a:t>30-05-2021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60BE29F6-04B7-4BDF-8A55-DC8A8F115704}" type="slidenum">
              <a:rPr lang="pt-PT" smtClean="0"/>
              <a:t>‹#›</a:t>
            </a:fld>
            <a:endParaRPr lang="pt-PT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FBD78-06A3-4D32-9AFA-668E17C32551}" type="datetimeFigureOut">
              <a:rPr lang="pt-PT" smtClean="0"/>
              <a:t>30-05-2021</a:t>
            </a:fld>
            <a:endParaRPr lang="pt-PT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0BE29F6-04B7-4BDF-8A55-DC8A8F115704}" type="slidenum">
              <a:rPr lang="pt-PT" smtClean="0"/>
              <a:t>‹#›</a:t>
            </a:fld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91CFBD78-06A3-4D32-9AFA-668E17C32551}" type="datetimeFigureOut">
              <a:rPr lang="pt-PT" smtClean="0"/>
              <a:t>30-05-2021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E29F6-04B7-4BDF-8A55-DC8A8F115704}" type="slidenum">
              <a:rPr lang="pt-PT" smtClean="0"/>
              <a:t>‹#›</a:t>
            </a:fld>
            <a:endParaRPr lang="pt-PT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FBD78-06A3-4D32-9AFA-668E17C32551}" type="datetimeFigureOut">
              <a:rPr lang="pt-PT" smtClean="0"/>
              <a:t>30-05-2021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pt-PT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60BE29F6-04B7-4BDF-8A55-DC8A8F115704}" type="slidenum">
              <a:rPr lang="pt-PT" smtClean="0"/>
              <a:t>‹#›</a:t>
            </a:fld>
            <a:endParaRPr lang="pt-PT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FBD78-06A3-4D32-9AFA-668E17C32551}" type="datetimeFigureOut">
              <a:rPr lang="pt-PT" smtClean="0"/>
              <a:t>30-05-2021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60BE29F6-04B7-4BDF-8A55-DC8A8F115704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FBD78-06A3-4D32-9AFA-668E17C32551}" type="datetimeFigureOut">
              <a:rPr lang="pt-PT" smtClean="0"/>
              <a:t>30-05-2021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0BE29F6-04B7-4BDF-8A55-DC8A8F115704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0BE29F6-04B7-4BDF-8A55-DC8A8F115704}" type="slidenum">
              <a:rPr lang="pt-PT" smtClean="0"/>
              <a:t>‹#›</a:t>
            </a:fld>
            <a:endParaRPr lang="pt-PT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FBD78-06A3-4D32-9AFA-668E17C32551}" type="datetimeFigureOut">
              <a:rPr lang="pt-PT" smtClean="0"/>
              <a:t>30-05-2021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pt-P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60BE29F6-04B7-4BDF-8A55-DC8A8F115704}" type="slidenum">
              <a:rPr lang="pt-PT" smtClean="0"/>
              <a:t>‹#›</a:t>
            </a:fld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91CFBD78-06A3-4D32-9AFA-668E17C32551}" type="datetimeFigureOut">
              <a:rPr lang="pt-PT" smtClean="0"/>
              <a:t>30-05-2021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FBD78-06A3-4D32-9AFA-668E17C32551}" type="datetimeFigureOut">
              <a:rPr lang="pt-PT" smtClean="0"/>
              <a:t>30-05-2021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E29F6-04B7-4BDF-8A55-DC8A8F115704}" type="slidenum">
              <a:rPr lang="pt-PT" smtClean="0"/>
              <a:t>‹#›</a:t>
            </a:fld>
            <a:endParaRPr lang="pt-P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60BE29F6-04B7-4BDF-8A55-DC8A8F115704}" type="slidenum">
              <a:rPr lang="pt-PT" smtClean="0"/>
              <a:t>‹#›</a:t>
            </a:fld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FBD78-06A3-4D32-9AFA-668E17C32551}" type="datetimeFigureOut">
              <a:rPr lang="pt-PT" smtClean="0"/>
              <a:t>30-05-2021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91CFBD78-06A3-4D32-9AFA-668E17C32551}" type="datetimeFigureOut">
              <a:rPr lang="pt-PT" smtClean="0"/>
              <a:t>30-05-2021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pt-PT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0BE29F6-04B7-4BDF-8A55-DC8A8F115704}" type="slidenum">
              <a:rPr lang="pt-PT" smtClean="0"/>
              <a:t>‹#›</a:t>
            </a:fld>
            <a:endParaRPr lang="pt-PT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Sucessões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PT" dirty="0" smtClean="0"/>
              <a:t>Definição de sucessão</a:t>
            </a:r>
          </a:p>
          <a:p>
            <a:r>
              <a:rPr lang="pt-PT" dirty="0" smtClean="0"/>
              <a:t>Progressão aritmética</a:t>
            </a:r>
          </a:p>
          <a:p>
            <a:r>
              <a:rPr lang="pt-PT" dirty="0" smtClean="0"/>
              <a:t>Progressão geométrica</a:t>
            </a:r>
          </a:p>
          <a:p>
            <a:r>
              <a:rPr lang="pt-PT" dirty="0" smtClean="0"/>
              <a:t>Limite de sucessão</a:t>
            </a:r>
          </a:p>
          <a:p>
            <a:r>
              <a:rPr lang="pt-PT" dirty="0" smtClean="0"/>
              <a:t>Teoremas sobre limites de sucessões</a:t>
            </a:r>
          </a:p>
          <a:p>
            <a:r>
              <a:rPr lang="pt-PT" dirty="0" smtClean="0"/>
              <a:t>Sucessões monótonas</a:t>
            </a:r>
          </a:p>
          <a:p>
            <a:r>
              <a:rPr lang="pt-PT" dirty="0" smtClean="0"/>
              <a:t>Limite superior e inferior.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20713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Sucessões</a:t>
            </a:r>
            <a:endParaRPr lang="pt-P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51520" y="1556792"/>
                <a:ext cx="8503920" cy="457200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pt-PT" b="1" dirty="0" smtClean="0"/>
                  <a:t>Definição </a:t>
                </a:r>
                <a:r>
                  <a:rPr lang="pt-PT" b="1" dirty="0"/>
                  <a:t>de sucessão</a:t>
                </a:r>
              </a:p>
              <a:p>
                <a:pPr marL="0" indent="0">
                  <a:buNone/>
                </a:pPr>
                <a:r>
                  <a:rPr lang="pt-PT" dirty="0"/>
                  <a:t>Uma sucessão é uma </a:t>
                </a:r>
                <a:r>
                  <a:rPr lang="pt-PT" dirty="0" smtClean="0"/>
                  <a:t>aplicação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𝑓</m:t>
                    </m:r>
                  </m:oMath>
                </a14:m>
                <a:r>
                  <a:rPr lang="pt-PT" dirty="0" smtClean="0"/>
                  <a:t> </a:t>
                </a:r>
                <a:r>
                  <a:rPr lang="pt-PT" dirty="0"/>
                  <a:t>definida sobre o conjunto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𝐼𝑁</m:t>
                    </m:r>
                  </m:oMath>
                </a14:m>
                <a:r>
                  <a:rPr lang="pt-PT" dirty="0" smtClean="0"/>
                  <a:t> dos </a:t>
                </a:r>
                <a:r>
                  <a:rPr lang="pt-PT" dirty="0"/>
                  <a:t>números naturais e com valores em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𝐼𝑅</m:t>
                    </m:r>
                  </m:oMath>
                </a14:m>
                <a:r>
                  <a:rPr lang="pt-PT" dirty="0" smtClean="0"/>
                  <a:t>. </a:t>
                </a:r>
                <a:r>
                  <a:rPr lang="pt-PT" dirty="0"/>
                  <a:t>O </a:t>
                </a:r>
                <a:r>
                  <a:rPr lang="pt-PT" dirty="0" smtClean="0"/>
                  <a:t>valor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𝑓</m:t>
                    </m:r>
                    <m:r>
                      <a:rPr lang="pt-PT" b="0" i="1" smtClean="0">
                        <a:latin typeface="Cambria Math"/>
                      </a:rPr>
                      <m:t>(</m:t>
                    </m:r>
                    <m:r>
                      <a:rPr lang="pt-PT" b="0" i="1" smtClean="0">
                        <a:latin typeface="Cambria Math"/>
                      </a:rPr>
                      <m:t>𝑛</m:t>
                    </m:r>
                    <m:r>
                      <a:rPr lang="pt-PT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pt-PT" dirty="0" smtClean="0"/>
                  <a:t> </a:t>
                </a:r>
                <a:r>
                  <a:rPr lang="pt-PT" dirty="0"/>
                  <a:t>da aplicação no ponto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pt-PT" dirty="0" smtClean="0"/>
                  <a:t> </a:t>
                </a:r>
                <a:r>
                  <a:rPr lang="pt-PT" dirty="0"/>
                  <a:t>denota-se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PT" dirty="0" smtClean="0"/>
                  <a:t> </a:t>
                </a:r>
                <a:r>
                  <a:rPr lang="pt-PT" dirty="0"/>
                  <a:t>e designa-se termo de ordem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pt-PT" dirty="0" smtClean="0"/>
                  <a:t> </a:t>
                </a:r>
                <a:r>
                  <a:rPr lang="pt-PT" dirty="0"/>
                  <a:t>da </a:t>
                </a:r>
                <a:r>
                  <a:rPr lang="pt-PT" dirty="0" smtClean="0"/>
                  <a:t>sucessão .</a:t>
                </a:r>
              </a:p>
              <a:p>
                <a:pPr marL="0" indent="0">
                  <a:buNone/>
                </a:pPr>
                <a:endParaRPr lang="pt-PT" dirty="0"/>
              </a:p>
              <a:p>
                <a:pPr marL="0" indent="0">
                  <a:buNone/>
                </a:pPr>
                <a:r>
                  <a:rPr lang="pt-PT" dirty="0" smtClean="0"/>
                  <a:t>Notação da sucessão: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PT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PT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PT" b="0" i="1" smtClean="0">
                        <a:latin typeface="Cambria Math"/>
                      </a:rPr>
                      <m:t>, ….</m:t>
                    </m:r>
                  </m:oMath>
                </a14:m>
                <a:endParaRPr lang="pt-PT" dirty="0" smtClean="0"/>
              </a:p>
              <a:p>
                <a:pPr marL="0" indent="0">
                  <a:buNone/>
                </a:pPr>
                <a:endParaRPr lang="pt-PT" dirty="0" smtClean="0"/>
              </a:p>
              <a:p>
                <a:pPr marL="0" indent="0">
                  <a:buNone/>
                </a:pPr>
                <a:r>
                  <a:rPr lang="pt-PT" dirty="0" smtClean="0"/>
                  <a:t>Domínio de uma sucessão: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b="0" i="1" smtClean="0">
                          <a:latin typeface="Cambria Math"/>
                        </a:rPr>
                        <m:t>𝐼𝑁</m:t>
                      </m:r>
                      <m:r>
                        <a:rPr lang="pt-PT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PT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pt-PT" b="0" i="1" smtClean="0">
                              <a:latin typeface="Cambria Math"/>
                            </a:rPr>
                            <m:t>1, 2, 3, …</m:t>
                          </m:r>
                        </m:e>
                      </m:d>
                    </m:oMath>
                  </m:oMathPara>
                </a14:m>
                <a:endParaRPr lang="pt-BR" dirty="0" smtClean="0"/>
              </a:p>
              <a:p>
                <a:pPr marL="0" indent="0">
                  <a:buNone/>
                </a:pPr>
                <a:endParaRPr lang="pt-BR" dirty="0" smtClean="0"/>
              </a:p>
              <a:p>
                <a:pPr marL="0" indent="0">
                  <a:buNone/>
                </a:pPr>
                <a:r>
                  <a:rPr lang="pt-BR" dirty="0"/>
                  <a:t>e as imagens são números reais quaisquer. Isto é, define-se </a:t>
                </a:r>
                <a:r>
                  <a:rPr lang="pt-BR" b="1" dirty="0"/>
                  <a:t>sucessão de números reais </a:t>
                </a:r>
                <a:r>
                  <a:rPr lang="pt-BR" dirty="0"/>
                  <a:t>toda a aplicação 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𝐼𝑁</m:t>
                    </m:r>
                  </m:oMath>
                </a14:m>
                <a:r>
                  <a:rPr lang="pt-BR" dirty="0"/>
                  <a:t>  em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𝐼𝑅</m:t>
                    </m:r>
                  </m:oMath>
                </a14:m>
                <a:r>
                  <a:rPr lang="pt-BR" dirty="0" smtClean="0"/>
                  <a:t>.</a:t>
                </a:r>
              </a:p>
              <a:p>
                <a:pPr marL="0" indent="0">
                  <a:buNone/>
                </a:pPr>
                <a:endParaRPr lang="pt-PT" dirty="0"/>
              </a:p>
              <a:p>
                <a:pPr marL="0" indent="0">
                  <a:buNone/>
                </a:pPr>
                <a:r>
                  <a:rPr lang="pt-BR" dirty="0"/>
                  <a:t>Aos elementos do contradomínio chamam-se termos da sucessão.  </a:t>
                </a:r>
                <a:endParaRPr lang="pt-PT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endParaRPr lang="pt-P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51520" y="1556792"/>
                <a:ext cx="8503920" cy="4572000"/>
              </a:xfrm>
              <a:blipFill rotWithShape="0">
                <a:blip r:embed="rId2"/>
                <a:stretch>
                  <a:fillRect l="-860" t="-2133" r="-3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0408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Sucessões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pt-BR" dirty="0"/>
                  <a:t>A </a:t>
                </a:r>
                <a:r>
                  <a:rPr lang="pt-BR" b="1" dirty="0"/>
                  <a:t>expressão analítica </a:t>
                </a:r>
                <a:r>
                  <a:rPr lang="pt-BR" dirty="0"/>
                  <a:t>de uma sucessão chama-se </a:t>
                </a:r>
                <a:r>
                  <a:rPr lang="pt-BR" b="1" dirty="0"/>
                  <a:t>termo geral ou termo gerador.</a:t>
                </a:r>
                <a:r>
                  <a:rPr lang="pt-PT" dirty="0" smtClean="0"/>
                  <a:t> </a:t>
                </a:r>
              </a:p>
              <a:p>
                <a:pPr marL="0" indent="0">
                  <a:buNone/>
                </a:pPr>
                <a:r>
                  <a:rPr lang="pt-PT" dirty="0"/>
                  <a:t>Exemplos de sucessões.</a:t>
                </a:r>
              </a:p>
              <a:p>
                <a:pPr marL="0" indent="0">
                  <a:buNone/>
                </a:pPr>
                <a:r>
                  <a:rPr lang="pt-PT" dirty="0"/>
                  <a:t>1-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pt-PT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PT">
                        <a:latin typeface="Cambria Math"/>
                      </a:rPr>
                      <m:t>=2</m:t>
                    </m:r>
                  </m:oMath>
                </a14:m>
                <a:endParaRPr lang="pt-PT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PT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pt-PT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PT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pt-PT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PT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pt-PT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PT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pt-PT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PT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pt-PT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pt-PT" i="1">
                          <a:latin typeface="Cambria Math"/>
                        </a:rPr>
                        <m:t>=…=2</m:t>
                      </m:r>
                    </m:oMath>
                  </m:oMathPara>
                </a14:m>
                <a:endParaRPr lang="pt-PT" dirty="0"/>
              </a:p>
              <a:p>
                <a:pPr marL="0" indent="0">
                  <a:buNone/>
                </a:pPr>
                <a:r>
                  <a:rPr lang="pt-PT" dirty="0"/>
                  <a:t>2-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pt-PT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PT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PT" i="1">
                            <a:latin typeface="Cambria Math"/>
                          </a:rPr>
                        </m:ctrlPr>
                      </m:fPr>
                      <m:num>
                        <m:r>
                          <a:rPr lang="pt-PT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pt-PT" i="1">
                            <a:latin typeface="Cambria Math"/>
                          </a:rPr>
                          <m:t>𝑛</m:t>
                        </m:r>
                      </m:den>
                    </m:f>
                  </m:oMath>
                </a14:m>
                <a:endParaRPr lang="pt-PT" dirty="0"/>
              </a:p>
              <a:p>
                <a:pPr marL="0" indent="0">
                  <a:buNone/>
                </a:pPr>
                <a:r>
                  <a:rPr lang="pt-PT" dirty="0"/>
                  <a:t>Calculando alguns termos: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PT"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pt-PT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PT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PT" i="1">
                            <a:latin typeface="Cambria Math"/>
                          </a:rPr>
                        </m:ctrlPr>
                      </m:fPr>
                      <m:num>
                        <m:r>
                          <a:rPr lang="pt-PT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pt-PT" i="1">
                            <a:latin typeface="Cambria Math"/>
                          </a:rPr>
                          <m:t>1</m:t>
                        </m:r>
                      </m:den>
                    </m:f>
                    <m:r>
                      <a:rPr lang="pt-PT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PT" i="1">
                            <a:latin typeface="Cambria Math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pt-PT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PT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PT" i="1">
                            <a:latin typeface="Cambria Math"/>
                          </a:rPr>
                        </m:ctrlPr>
                      </m:fPr>
                      <m:num>
                        <m:r>
                          <a:rPr lang="pt-PT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pt-PT" i="1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pt-PT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PT" i="1">
                            <a:latin typeface="Cambria Math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pt-PT" i="1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pt-PT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PT" i="1">
                            <a:latin typeface="Cambria Math"/>
                          </a:rPr>
                        </m:ctrlPr>
                      </m:fPr>
                      <m:num>
                        <m:r>
                          <a:rPr lang="pt-PT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pt-PT" i="1">
                            <a:latin typeface="Cambria Math"/>
                          </a:rPr>
                          <m:t>3</m:t>
                        </m:r>
                      </m:den>
                    </m:f>
                    <m:r>
                      <a:rPr lang="pt-PT" i="1">
                        <a:latin typeface="Cambria Math"/>
                      </a:rPr>
                      <m:t>, …, </m:t>
                    </m:r>
                    <m:sSub>
                      <m:sSubPr>
                        <m:ctrlPr>
                          <a:rPr lang="pt-PT" i="1">
                            <a:latin typeface="Cambria Math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pt-PT" i="1">
                            <a:latin typeface="Cambria Math"/>
                          </a:rPr>
                          <m:t>100</m:t>
                        </m:r>
                      </m:sub>
                    </m:sSub>
                    <m:r>
                      <a:rPr lang="pt-PT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PT" i="1">
                            <a:latin typeface="Cambria Math"/>
                          </a:rPr>
                        </m:ctrlPr>
                      </m:fPr>
                      <m:num>
                        <m:r>
                          <a:rPr lang="pt-PT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pt-PT" i="1">
                            <a:latin typeface="Cambria Math"/>
                          </a:rPr>
                          <m:t>100</m:t>
                        </m:r>
                      </m:den>
                    </m:f>
                  </m:oMath>
                </a14:m>
                <a:endParaRPr lang="pt-PT" dirty="0"/>
              </a:p>
              <a:p>
                <a:pPr marL="0" indent="0">
                  <a:buNone/>
                </a:pPr>
                <a:endParaRPr lang="pt-PT" dirty="0" smtClean="0"/>
              </a:p>
              <a:p>
                <a:pPr marL="0" indent="0">
                  <a:buNone/>
                </a:pPr>
                <a:endParaRPr lang="pt-P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362" t="-1200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1265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Sucessões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pt-BR" sz="2400" b="1" dirty="0"/>
                  <a:t>Representação gráfica de uma </a:t>
                </a:r>
                <a:r>
                  <a:rPr lang="pt-BR" sz="2400" b="1" dirty="0" smtClean="0"/>
                  <a:t>sucessão</a:t>
                </a:r>
                <a:endParaRPr lang="pt-PT" sz="2400" dirty="0"/>
              </a:p>
              <a:p>
                <a:pPr marL="0" indent="0">
                  <a:buNone/>
                </a:pPr>
                <a:r>
                  <a:rPr lang="pt-BR" sz="2400" dirty="0"/>
                  <a:t>Como o domínio de uma sucessão é o conjunto de números naturais. a representação gráfica desta, é feita de pontos isolados. Considerando o </a:t>
                </a:r>
                <a:r>
                  <a:rPr lang="pt-BR" sz="2400" dirty="0" smtClean="0"/>
                  <a:t>Exemplo2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PT" sz="24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pt-PT" sz="2400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PT" sz="24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PT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pt-PT" sz="24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pt-PT" sz="2400" i="1">
                            <a:latin typeface="Cambria Math"/>
                          </a:rPr>
                          <m:t>𝑛</m:t>
                        </m:r>
                      </m:den>
                    </m:f>
                  </m:oMath>
                </a14:m>
                <a:r>
                  <a:rPr lang="pt-BR" sz="2400" dirty="0" smtClean="0"/>
                  <a:t> </a:t>
                </a:r>
                <a:r>
                  <a:rPr lang="pt-BR" sz="2400" dirty="0"/>
                  <a:t>a sua representação gráfica é: </a:t>
                </a:r>
                <a:endParaRPr lang="pt-BR" sz="2400" dirty="0" smtClean="0"/>
              </a:p>
              <a:p>
                <a:pPr marL="0" indent="0">
                  <a:buNone/>
                </a:pPr>
                <a:endParaRPr lang="pt-PT" dirty="0"/>
              </a:p>
              <a:p>
                <a:pPr marL="0" indent="0">
                  <a:buNone/>
                </a:pPr>
                <a:endParaRPr lang="pt-P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147" t="-1067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3789041"/>
            <a:ext cx="3672407" cy="223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7707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Sucessões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pt-BR" b="1" dirty="0" smtClean="0"/>
                  <a:t>Monotonia da Sucessão</a:t>
                </a:r>
                <a:endParaRPr lang="pt-PT" dirty="0"/>
              </a:p>
              <a:p>
                <a:r>
                  <a:rPr lang="pt-PT" dirty="0" smtClean="0"/>
                  <a:t>Uma sucessão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PT" dirty="0" smtClean="0"/>
                  <a:t> diz-se monótona crescente se: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  <m:r>
                          <a:rPr lang="pt-PT" b="0" i="1" smtClean="0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pt-PT" b="0" i="1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PT" b="0" i="1" smtClean="0">
                        <a:latin typeface="Cambria Math"/>
                      </a:rPr>
                      <m:t>&gt;0, 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𝐼𝑁</m:t>
                    </m:r>
                  </m:oMath>
                </a14:m>
                <a:r>
                  <a:rPr lang="pt-PT" dirty="0" smtClean="0"/>
                  <a:t> </a:t>
                </a:r>
              </a:p>
              <a:p>
                <a:pPr marL="0" indent="0">
                  <a:buNone/>
                </a:pPr>
                <a:endParaRPr lang="pt-PT" dirty="0" smtClean="0"/>
              </a:p>
              <a:p>
                <a:r>
                  <a:rPr lang="pt-PT" dirty="0"/>
                  <a:t> Uma sucessão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PT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PT" dirty="0"/>
                  <a:t> diz-se monótona </a:t>
                </a:r>
                <a:r>
                  <a:rPr lang="pt-PT" dirty="0" smtClean="0"/>
                  <a:t>decrescente </a:t>
                </a:r>
                <a:r>
                  <a:rPr lang="pt-PT" dirty="0"/>
                  <a:t>se</a:t>
                </a:r>
                <a:r>
                  <a:rPr lang="pt-PT" dirty="0" smtClean="0"/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PT" i="1">
                            <a:latin typeface="Cambria Math"/>
                          </a:rPr>
                          <m:t>𝑛</m:t>
                        </m:r>
                        <m:r>
                          <a:rPr lang="pt-PT" i="1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pt-PT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pt-PT" i="1">
                            <a:latin typeface="Cambria Math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PT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PT" b="0" i="1" smtClean="0">
                        <a:latin typeface="Cambria Math"/>
                      </a:rPr>
                      <m:t>&lt;</m:t>
                    </m:r>
                    <m:r>
                      <a:rPr lang="pt-PT" i="1">
                        <a:latin typeface="Cambria Math"/>
                      </a:rPr>
                      <m:t>0, </m:t>
                    </m:r>
                    <m:r>
                      <a:rPr lang="pt-PT" i="1">
                        <a:latin typeface="Cambria Math"/>
                        <a:ea typeface="Cambria Math"/>
                      </a:rPr>
                      <m:t>∀</m:t>
                    </m:r>
                    <m:r>
                      <a:rPr lang="pt-PT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pt-PT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pt-PT" i="1">
                        <a:latin typeface="Cambria Math"/>
                        <a:ea typeface="Cambria Math"/>
                      </a:rPr>
                      <m:t>𝐼𝑁</m:t>
                    </m:r>
                  </m:oMath>
                </a14:m>
                <a:r>
                  <a:rPr lang="pt-PT" dirty="0" smtClean="0"/>
                  <a:t> </a:t>
                </a:r>
              </a:p>
              <a:p>
                <a:pPr marL="0" indent="0">
                  <a:buNone/>
                </a:pPr>
                <a:endParaRPr lang="pt-PT" dirty="0" smtClean="0"/>
              </a:p>
              <a:p>
                <a:pPr marL="0" indent="0">
                  <a:buNone/>
                </a:pPr>
                <a:endParaRPr lang="pt-PT" dirty="0"/>
              </a:p>
              <a:p>
                <a:pPr marL="0" indent="0">
                  <a:buNone/>
                </a:pPr>
                <a:endParaRPr lang="pt-PT" dirty="0"/>
              </a:p>
              <a:p>
                <a:endParaRPr lang="pt-P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362" t="-1200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0803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Sucessões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pt-PT" b="1" dirty="0" smtClean="0"/>
                  <a:t>Exemplo</a:t>
                </a:r>
                <a:r>
                  <a:rPr lang="pt-PT" dirty="0" smtClean="0"/>
                  <a:t>: Estude a monotonia da sucessão:</a:t>
                </a:r>
              </a:p>
              <a:p>
                <a:pPr marL="0" indent="0">
                  <a:buNone/>
                </a:pPr>
                <a:r>
                  <a:rPr lang="pt-PT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PT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PT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pt-PT" b="0" i="1" smtClean="0">
                            <a:latin typeface="Cambria Math"/>
                          </a:rPr>
                          <m:t>2</m:t>
                        </m:r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  <m:r>
                          <a:rPr lang="pt-PT" b="0" i="1" smtClean="0">
                            <a:latin typeface="Cambria Math"/>
                          </a:rPr>
                          <m:t>+1</m:t>
                        </m:r>
                      </m:num>
                      <m:den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</m:den>
                    </m:f>
                  </m:oMath>
                </a14:m>
                <a:endParaRPr lang="pt-PT" dirty="0" smtClean="0"/>
              </a:p>
              <a:p>
                <a:pPr marL="0" indent="0">
                  <a:buNone/>
                </a:pPr>
                <a:endParaRPr lang="pt-PT" dirty="0" smtClean="0"/>
              </a:p>
              <a:p>
                <a:pPr marL="0" indent="0">
                  <a:buNone/>
                </a:pPr>
                <a:r>
                  <a:rPr lang="pt-PT" dirty="0" smtClean="0"/>
                  <a:t>Resolução</a:t>
                </a:r>
                <a:r>
                  <a:rPr lang="pt-PT" dirty="0" smtClean="0"/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  <m:r>
                          <a:rPr lang="pt-PT" b="0" i="1" smtClean="0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pt-PT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PT" i="1">
                            <a:latin typeface="Cambria Math"/>
                          </a:rPr>
                        </m:ctrlPr>
                      </m:fPr>
                      <m:num>
                        <m:r>
                          <a:rPr lang="pt-BR" i="1">
                            <a:latin typeface="Cambria Math"/>
                          </a:rPr>
                          <m:t>2(</m:t>
                        </m:r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+1)+1</m:t>
                        </m:r>
                      </m:num>
                      <m:den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+1</m:t>
                        </m:r>
                      </m:den>
                    </m:f>
                    <m:r>
                      <a:rPr lang="pt-PT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PT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pt-PT" b="0" i="1" smtClean="0">
                            <a:latin typeface="Cambria Math"/>
                          </a:rPr>
                          <m:t>2</m:t>
                        </m:r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  <m:r>
                          <a:rPr lang="pt-PT" b="0" i="1" smtClean="0">
                            <a:latin typeface="Cambria Math"/>
                          </a:rPr>
                          <m:t>+3</m:t>
                        </m:r>
                      </m:num>
                      <m:den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  <m:r>
                          <a:rPr lang="pt-PT" b="0" i="1" smtClean="0">
                            <a:latin typeface="Cambria Math"/>
                          </a:rPr>
                          <m:t>+1</m:t>
                        </m:r>
                      </m:den>
                    </m:f>
                  </m:oMath>
                </a14:m>
                <a:r>
                  <a:rPr lang="pt-PT" dirty="0" smtClean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pt-PT" i="1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PT" i="1">
                            <a:latin typeface="Cambria Math"/>
                          </a:rPr>
                        </m:ctrlPr>
                      </m:fPr>
                      <m:num>
                        <m:r>
                          <a:rPr lang="pt-BR" i="1">
                            <a:latin typeface="Cambria Math"/>
                          </a:rPr>
                          <m:t>2</m:t>
                        </m:r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+3</m:t>
                        </m:r>
                      </m:num>
                      <m:den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+1</m:t>
                        </m:r>
                      </m:den>
                    </m:f>
                    <m:r>
                      <a:rPr lang="pt-BR" i="1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pt-PT" i="1">
                            <a:latin typeface="Cambria Math"/>
                          </a:rPr>
                        </m:ctrlPr>
                      </m:fPr>
                      <m:num>
                        <m:r>
                          <a:rPr lang="pt-BR" i="1">
                            <a:latin typeface="Cambria Math"/>
                          </a:rPr>
                          <m:t>2</m:t>
                        </m:r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+1</m:t>
                        </m:r>
                      </m:num>
                      <m:den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den>
                    </m:f>
                    <m:r>
                      <a:rPr lang="pt-BR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PT" i="1">
                            <a:latin typeface="Cambria Math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pt-PT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/>
                              </a:rPr>
                              <m:t>2</m:t>
                            </m:r>
                            <m:r>
                              <a:rPr lang="pt-BR" i="1">
                                <a:latin typeface="Cambria Math"/>
                              </a:rPr>
                              <m:t>𝑛</m:t>
                            </m:r>
                            <m:r>
                              <a:rPr lang="pt-BR" i="1">
                                <a:latin typeface="Cambria Math"/>
                              </a:rPr>
                              <m:t>+3</m:t>
                            </m:r>
                          </m:e>
                        </m:d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num>
                      <m:den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d>
                          <m:dPr>
                            <m:ctrlPr>
                              <a:rPr lang="pt-PT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/>
                              </a:rPr>
                              <m:t>𝑛</m:t>
                            </m:r>
                            <m:r>
                              <a:rPr lang="pt-BR" i="1">
                                <a:latin typeface="Cambria Math"/>
                              </a:rPr>
                              <m:t>+1</m:t>
                            </m:r>
                          </m:e>
                        </m:d>
                      </m:den>
                    </m:f>
                    <m:r>
                      <a:rPr lang="pt-BR" i="1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pt-PT" i="1">
                            <a:latin typeface="Cambria Math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pt-PT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/>
                              </a:rPr>
                              <m:t>2</m:t>
                            </m:r>
                            <m:r>
                              <a:rPr lang="pt-BR" i="1">
                                <a:latin typeface="Cambria Math"/>
                              </a:rPr>
                              <m:t>𝑛</m:t>
                            </m:r>
                            <m:r>
                              <a:rPr lang="pt-BR" i="1">
                                <a:latin typeface="Cambria Math"/>
                              </a:rPr>
                              <m:t>+1</m:t>
                            </m:r>
                          </m:e>
                        </m:d>
                        <m:d>
                          <m:dPr>
                            <m:ctrlPr>
                              <a:rPr lang="pt-PT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/>
                              </a:rPr>
                              <m:t>𝑛</m:t>
                            </m:r>
                            <m:r>
                              <a:rPr lang="pt-BR" i="1">
                                <a:latin typeface="Cambria Math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d>
                          <m:dPr>
                            <m:ctrlPr>
                              <a:rPr lang="pt-PT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/>
                              </a:rPr>
                              <m:t>𝑛</m:t>
                            </m:r>
                            <m:r>
                              <a:rPr lang="pt-BR" i="1">
                                <a:latin typeface="Cambria Math"/>
                              </a:rPr>
                              <m:t>+1</m:t>
                            </m:r>
                          </m:e>
                        </m:d>
                      </m:den>
                    </m:f>
                    <m:r>
                      <a:rPr lang="pt-BR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PT" i="1">
                            <a:latin typeface="Cambria Math"/>
                          </a:rPr>
                        </m:ctrlPr>
                      </m:fPr>
                      <m:num>
                        <m:r>
                          <a:rPr lang="pt-BR" i="1">
                            <a:latin typeface="Cambria Math"/>
                          </a:rPr>
                          <m:t>2</m:t>
                        </m:r>
                        <m:sSup>
                          <m:sSupPr>
                            <m:ctrlPr>
                              <a:rPr lang="pt-PT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pt-BR" i="1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pt-BR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pt-BR" i="1">
                            <a:latin typeface="Cambria Math"/>
                          </a:rPr>
                          <m:t>+3</m:t>
                        </m:r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−2</m:t>
                        </m:r>
                        <m:sSup>
                          <m:sSupPr>
                            <m:ctrlPr>
                              <a:rPr lang="pt-PT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pt-BR" i="1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pt-BR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pt-BR" i="1">
                            <a:latin typeface="Cambria Math"/>
                          </a:rPr>
                          <m:t>−2</m:t>
                        </m:r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−</m:t>
                        </m:r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−1</m:t>
                        </m:r>
                      </m:num>
                      <m:den>
                        <m:d>
                          <m:dPr>
                            <m:ctrlPr>
                              <a:rPr lang="pt-PT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/>
                              </a:rPr>
                              <m:t>𝑛</m:t>
                            </m:r>
                            <m:r>
                              <a:rPr lang="pt-BR" i="1">
                                <a:latin typeface="Cambria Math"/>
                              </a:rPr>
                              <m:t>+1</m:t>
                            </m:r>
                          </m:e>
                        </m:d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den>
                    </m:f>
                    <m:r>
                      <a:rPr lang="pt-BR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PT" i="1">
                            <a:latin typeface="Cambria Math"/>
                          </a:rPr>
                        </m:ctrlPr>
                      </m:fPr>
                      <m:num>
                        <m:r>
                          <a:rPr lang="pt-BR" i="1">
                            <a:latin typeface="Cambria Math"/>
                          </a:rPr>
                          <m:t>−1</m:t>
                        </m:r>
                      </m:num>
                      <m:den>
                        <m:r>
                          <a:rPr lang="pt-BR" i="1">
                            <a:latin typeface="Cambria Math"/>
                          </a:rPr>
                          <m:t>(</m:t>
                        </m:r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+1)</m:t>
                        </m:r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den>
                    </m:f>
                    <m:r>
                      <a:rPr lang="pt-BR" i="1">
                        <a:latin typeface="Cambria Math"/>
                      </a:rPr>
                      <m:t>&lt;0</m:t>
                    </m:r>
                  </m:oMath>
                </a14:m>
                <a:r>
                  <a:rPr lang="pt-BR" dirty="0"/>
                  <a:t> </a:t>
                </a:r>
                <a:endParaRPr lang="pt-BR" dirty="0" smtClean="0"/>
              </a:p>
              <a:p>
                <a:pPr marL="0" indent="0">
                  <a:buNone/>
                </a:pPr>
                <a:endParaRPr lang="pt-PT" dirty="0"/>
              </a:p>
              <a:p>
                <a:pPr marL="0" indent="0">
                  <a:buNone/>
                </a:pPr>
                <a:r>
                  <a:rPr lang="pt-BR" dirty="0"/>
                  <a:t>Como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pt-PT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dirty="0"/>
                  <a:t>, então a sucessão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dirty="0"/>
                  <a:t> é monótona decrescente.</a:t>
                </a:r>
                <a:endParaRPr lang="pt-PT" dirty="0"/>
              </a:p>
              <a:p>
                <a:pPr marL="0" indent="0">
                  <a:buNone/>
                </a:pPr>
                <a:endParaRPr lang="pt-PT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219" t="-2667" b="-267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0655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Sucessões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pt-PT" b="1" dirty="0" smtClean="0"/>
                  <a:t>Progressão </a:t>
                </a:r>
                <a:r>
                  <a:rPr lang="pt-PT" b="1" dirty="0"/>
                  <a:t>Aritmética (PA</a:t>
                </a:r>
                <a:r>
                  <a:rPr lang="pt-PT" b="1" dirty="0" smtClean="0"/>
                  <a:t>)</a:t>
                </a:r>
                <a:endParaRPr lang="pt-PT" b="1" dirty="0" smtClean="0"/>
              </a:p>
              <a:p>
                <a:pPr marL="0" indent="0">
                  <a:buNone/>
                </a:pPr>
                <a:r>
                  <a:rPr lang="pt-PT" dirty="0" smtClean="0"/>
                  <a:t>Uma sucessão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PT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pt-PT" b="0" i="1" smtClean="0">
                                    <a:latin typeface="Cambria Math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pt-PT" b="0" i="1" smtClean="0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  <m:r>
                          <a:rPr lang="pt-PT" b="0" i="1" smtClean="0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pt-PT" b="0" i="1" smtClean="0">
                            <a:latin typeface="Cambria Math"/>
                            <a:ea typeface="Cambria Math"/>
                          </a:rPr>
                          <m:t>𝐼𝑁</m:t>
                        </m:r>
                      </m:sub>
                    </m:sSub>
                  </m:oMath>
                </a14:m>
                <a:r>
                  <a:rPr lang="pt-PT" dirty="0" smtClean="0"/>
                  <a:t> é progressão aritmética se: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  <m:r>
                          <a:rPr lang="pt-PT" b="0" i="1" smtClean="0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pt-PT" b="0" i="1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PT" b="0" i="1" smtClean="0">
                        <a:latin typeface="Cambria Math"/>
                      </a:rPr>
                      <m:t>=</m:t>
                    </m:r>
                    <m:r>
                      <a:rPr lang="pt-PT" b="0" i="1" smtClean="0">
                        <a:latin typeface="Cambria Math"/>
                      </a:rPr>
                      <m:t>𝑟</m:t>
                    </m:r>
                    <m:r>
                      <a:rPr lang="pt-PT" b="0" i="1" smtClean="0">
                        <a:latin typeface="Cambria Math"/>
                      </a:rPr>
                      <m:t> ∀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𝐼𝑁</m:t>
                    </m:r>
                  </m:oMath>
                </a14:m>
                <a:r>
                  <a:rPr lang="pt-PT" dirty="0" smtClean="0"/>
                  <a:t> isto é a diferença de cada termo com o seu anterior é constante:</a:t>
                </a:r>
              </a:p>
              <a:p>
                <a:pPr marL="0" indent="0">
                  <a:buNone/>
                </a:pPr>
                <a:endParaRPr lang="pt-PT" dirty="0" smtClean="0"/>
              </a:p>
              <a:p>
                <a:r>
                  <a:rPr lang="pt-PT" dirty="0" smtClean="0"/>
                  <a:t>Se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𝑟</m:t>
                    </m:r>
                    <m:r>
                      <a:rPr lang="pt-PT" b="0" i="1" smtClean="0">
                        <a:latin typeface="Cambria Math"/>
                      </a:rPr>
                      <m:t>&gt;0</m:t>
                    </m:r>
                  </m:oMath>
                </a14:m>
                <a:r>
                  <a:rPr lang="pt-PT" dirty="0" smtClean="0"/>
                  <a:t> a progressão é monótona crescente</a:t>
                </a:r>
              </a:p>
              <a:p>
                <a:r>
                  <a:rPr lang="pt-PT" dirty="0"/>
                  <a:t>Se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</a:rPr>
                      <m:t>𝑟</m:t>
                    </m:r>
                    <m:r>
                      <a:rPr lang="pt-PT" b="0" i="1" smtClean="0">
                        <a:latin typeface="Cambria Math"/>
                      </a:rPr>
                      <m:t>&lt;</m:t>
                    </m:r>
                    <m:r>
                      <a:rPr lang="pt-PT" i="1">
                        <a:latin typeface="Cambria Math"/>
                      </a:rPr>
                      <m:t>0</m:t>
                    </m:r>
                  </m:oMath>
                </a14:m>
                <a:r>
                  <a:rPr lang="pt-PT" dirty="0"/>
                  <a:t> a progressão é monótona </a:t>
                </a:r>
                <a:r>
                  <a:rPr lang="pt-PT" dirty="0" smtClean="0"/>
                  <a:t>decrescente</a:t>
                </a:r>
              </a:p>
              <a:p>
                <a:r>
                  <a:rPr lang="pt-PT" dirty="0"/>
                  <a:t>Se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</a:rPr>
                      <m:t>𝑟</m:t>
                    </m:r>
                    <m:r>
                      <a:rPr lang="pt-PT" b="0" i="1" smtClean="0">
                        <a:latin typeface="Cambria Math"/>
                      </a:rPr>
                      <m:t>=</m:t>
                    </m:r>
                    <m:r>
                      <a:rPr lang="pt-PT" i="1">
                        <a:latin typeface="Cambria Math"/>
                      </a:rPr>
                      <m:t>0</m:t>
                    </m:r>
                  </m:oMath>
                </a14:m>
                <a:r>
                  <a:rPr lang="pt-PT" dirty="0"/>
                  <a:t> a progressão é monótona </a:t>
                </a:r>
                <a:r>
                  <a:rPr lang="pt-PT" dirty="0" smtClean="0"/>
                  <a:t>constante</a:t>
                </a:r>
              </a:p>
              <a:p>
                <a:pPr marL="0" indent="0">
                  <a:buNone/>
                </a:pPr>
                <a:endParaRPr lang="pt-PT" dirty="0" smtClean="0"/>
              </a:p>
              <a:p>
                <a:pPr marL="0" indent="0">
                  <a:buNone/>
                </a:pPr>
                <a:r>
                  <a:rPr lang="pt-PT" b="1" dirty="0" smtClean="0"/>
                  <a:t>Termo Geral de uma </a:t>
                </a:r>
                <a:r>
                  <a:rPr lang="pt-PT" b="1" dirty="0" smtClean="0"/>
                  <a:t>PA</a:t>
                </a:r>
                <a:endParaRPr lang="pt-PT" b="1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PT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PT" b="0" i="1" smtClean="0">
                        <a:latin typeface="Cambria Math"/>
                      </a:rPr>
                      <m:t>+</m:t>
                    </m:r>
                    <m:d>
                      <m:dPr>
                        <m:ctrlPr>
                          <a:rPr lang="pt-PT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  <m:r>
                          <a:rPr lang="pt-PT" b="0" i="1" smtClean="0">
                            <a:latin typeface="Cambria Math"/>
                          </a:rPr>
                          <m:t>−1</m:t>
                        </m:r>
                      </m:e>
                    </m:d>
                    <m:r>
                      <a:rPr lang="pt-PT" b="0" i="1" smtClean="0">
                        <a:latin typeface="Cambria Math"/>
                      </a:rPr>
                      <m:t>𝑟</m:t>
                    </m:r>
                  </m:oMath>
                </a14:m>
                <a:r>
                  <a:rPr lang="pt-PT" dirty="0" smtClean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PT" dirty="0" smtClean="0"/>
                  <a:t> é o primeiro termo e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𝑟</m:t>
                    </m:r>
                  </m:oMath>
                </a14:m>
                <a:r>
                  <a:rPr lang="pt-PT" dirty="0" smtClean="0"/>
                  <a:t> é a razão (diferença)</a:t>
                </a:r>
              </a:p>
              <a:p>
                <a:pPr marL="0" indent="0">
                  <a:buNone/>
                </a:pPr>
                <a:endParaRPr lang="pt-PT" dirty="0" smtClean="0"/>
              </a:p>
              <a:p>
                <a:pPr marL="0" indent="0">
                  <a:buNone/>
                </a:pPr>
                <a:r>
                  <a:rPr lang="pt-PT" b="1" dirty="0"/>
                  <a:t>Exemplo</a:t>
                </a:r>
                <a:r>
                  <a:rPr lang="pt-PT" dirty="0"/>
                  <a:t>: considere a sucessão de números ímpares positivos.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</a:rPr>
                      <m:t>1, 3, 5, 7, 9, 11, …</m:t>
                    </m:r>
                  </m:oMath>
                </a14:m>
                <a:r>
                  <a:rPr lang="pt-PT" dirty="0"/>
                  <a:t> encontre o termo </a:t>
                </a:r>
                <a:r>
                  <a:rPr lang="pt-PT" dirty="0" smtClean="0"/>
                  <a:t>geral</a:t>
                </a:r>
              </a:p>
              <a:p>
                <a:pPr marL="0" indent="0">
                  <a:buNone/>
                </a:pPr>
                <a:endParaRPr lang="pt-PT" dirty="0"/>
              </a:p>
              <a:p>
                <a:pPr marL="0" indent="0">
                  <a:buNone/>
                </a:pPr>
                <a:r>
                  <a:rPr lang="pt-PT" dirty="0"/>
                  <a:t>Solução</a:t>
                </a:r>
              </a:p>
              <a:p>
                <a:pPr marL="0" indent="0">
                  <a:buNone/>
                </a:pPr>
                <a:r>
                  <a:rPr lang="pt-PT" dirty="0"/>
                  <a:t>Como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</a:rPr>
                      <m:t>𝑟</m:t>
                    </m:r>
                    <m:r>
                      <a:rPr lang="pt-PT" i="1">
                        <a:latin typeface="Cambria Math"/>
                      </a:rPr>
                      <m:t>=2</m:t>
                    </m:r>
                  </m:oMath>
                </a14:m>
                <a:r>
                  <a:rPr lang="pt-PT" dirty="0"/>
                  <a:t>, o termo geral é dado por: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PT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pt-PT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pt-PT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pt-PT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PT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pt-PT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PT" i="1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pt-PT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pt-PT" i="1">
                              <a:latin typeface="Cambria Math"/>
                            </a:rPr>
                            <m:t>𝑛</m:t>
                          </m:r>
                          <m:r>
                            <a:rPr lang="pt-PT" i="1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pt-PT" i="1">
                          <a:latin typeface="Cambria Math"/>
                        </a:rPr>
                        <m:t>𝑟</m:t>
                      </m:r>
                      <m:r>
                        <a:rPr lang="pt-PT" i="1">
                          <a:latin typeface="Cambria Math"/>
                        </a:rPr>
                        <m:t>=1+2</m:t>
                      </m:r>
                      <m:d>
                        <m:dPr>
                          <m:ctrlPr>
                            <a:rPr lang="pt-PT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pt-PT" i="1">
                              <a:latin typeface="Cambria Math"/>
                            </a:rPr>
                            <m:t>𝑛</m:t>
                          </m:r>
                          <m:r>
                            <a:rPr lang="pt-PT" i="1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pt-PT" i="1">
                          <a:latin typeface="Cambria Math"/>
                        </a:rPr>
                        <m:t>=2</m:t>
                      </m:r>
                      <m:r>
                        <a:rPr lang="pt-PT" i="1">
                          <a:latin typeface="Cambria Math"/>
                        </a:rPr>
                        <m:t>𝑛</m:t>
                      </m:r>
                      <m:r>
                        <a:rPr lang="pt-PT" i="1"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pt-PT" dirty="0" smtClean="0"/>
              </a:p>
              <a:p>
                <a:pPr marL="0" indent="0">
                  <a:buNone/>
                </a:pPr>
                <a:endParaRPr lang="pt-PT" dirty="0"/>
              </a:p>
              <a:p>
                <a:endParaRPr lang="pt-PT" dirty="0"/>
              </a:p>
              <a:p>
                <a:endParaRPr lang="pt-PT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02" t="-1467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8376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Sucessões</a:t>
            </a:r>
            <a:endParaRPr lang="pt-P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pt-PT" b="1" dirty="0" smtClean="0"/>
                  <a:t>Soma de n termos consecutivos de uma PA</a:t>
                </a:r>
              </a:p>
              <a:p>
                <a:pPr marL="0" indent="0">
                  <a:buNone/>
                </a:pPr>
                <a:r>
                  <a:rPr lang="pt-BR" dirty="0"/>
                  <a:t>A soma de  termos consecuctivos, par ou impar é dada </a:t>
                </a:r>
                <a:r>
                  <a:rPr lang="pt-BR" dirty="0" smtClean="0"/>
                  <a:t>por:</a:t>
                </a:r>
              </a:p>
              <a:p>
                <a:pPr marL="0" indent="0">
                  <a:buNone/>
                </a:pPr>
                <a:endParaRPr lang="pt-BR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pt-PT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pt-PT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PT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PT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PT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pt-PT" b="0" i="1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pt-PT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PT" b="0" i="1" smtClean="0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pt-PT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pt-PT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pt-PT" b="0" i="1" smtClean="0">
                          <a:latin typeface="Cambria Math"/>
                          <a:ea typeface="Cambria Math"/>
                        </a:rPr>
                        <m:t>𝑛</m:t>
                      </m:r>
                      <m:r>
                        <a:rPr lang="pt-PT" b="0" i="1" smtClean="0">
                          <a:latin typeface="Cambria Math"/>
                          <a:ea typeface="Cambria Math"/>
                        </a:rPr>
                        <m:t>, ∀</m:t>
                      </m:r>
                      <m:r>
                        <a:rPr lang="pt-PT" b="0" i="1" smtClean="0">
                          <a:latin typeface="Cambria Math"/>
                          <a:ea typeface="Cambria Math"/>
                        </a:rPr>
                        <m:t>𝑛</m:t>
                      </m:r>
                      <m:r>
                        <a:rPr lang="pt-PT" b="0" i="1" smtClean="0">
                          <a:latin typeface="Cambria Math"/>
                          <a:ea typeface="Cambria Math"/>
                        </a:rPr>
                        <m:t>∈</m:t>
                      </m:r>
                      <m:r>
                        <a:rPr lang="pt-PT" b="0" i="1" smtClean="0">
                          <a:latin typeface="Cambria Math"/>
                          <a:ea typeface="Cambria Math"/>
                        </a:rPr>
                        <m:t>𝐼𝑁</m:t>
                      </m:r>
                    </m:oMath>
                  </m:oMathPara>
                </a14:m>
                <a:endParaRPr lang="pt-PT" dirty="0" smtClean="0"/>
              </a:p>
              <a:p>
                <a:pPr marL="0" indent="0">
                  <a:buNone/>
                </a:pPr>
                <a:r>
                  <a:rPr lang="pt-PT" dirty="0" smtClean="0"/>
                  <a:t>Em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PT" b="0" i="1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pt-PT" b="0" i="0" smtClean="0">
                        <a:latin typeface="Cambria Math"/>
                      </a:rPr>
                      <m:t>e</m:t>
                    </m:r>
                    <m:r>
                      <a:rPr lang="pt-PT" b="0" i="1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PT" dirty="0" smtClean="0"/>
                  <a:t> são o primeiro e o último termos a somar.</a:t>
                </a:r>
              </a:p>
              <a:p>
                <a:pPr marL="0" indent="0">
                  <a:buNone/>
                </a:pPr>
                <a:endParaRPr lang="pt-PT" dirty="0" smtClean="0"/>
              </a:p>
              <a:p>
                <a:pPr marL="0" indent="0">
                  <a:buNone/>
                </a:pPr>
                <a:r>
                  <a:rPr lang="pt-PT" b="1" dirty="0" smtClean="0"/>
                  <a:t>Exemplo</a:t>
                </a:r>
                <a:r>
                  <a:rPr lang="pt-PT" dirty="0" smtClean="0"/>
                  <a:t>: considere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4, 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pt-PT" b="0" i="1" smtClean="0">
                        <a:latin typeface="Cambria Math"/>
                      </a:rPr>
                      <m:t>, 10, 13, 16, 19, 22, …</m:t>
                    </m:r>
                  </m:oMath>
                </a14:m>
                <a:r>
                  <a:rPr lang="pt-PT" dirty="0" smtClean="0"/>
                  <a:t> com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𝑟</m:t>
                    </m:r>
                    <m:r>
                      <a:rPr lang="pt-PT" b="0" i="1" smtClean="0">
                        <a:latin typeface="Cambria Math"/>
                      </a:rPr>
                      <m:t>=3</m:t>
                    </m:r>
                  </m:oMath>
                </a14:m>
                <a:r>
                  <a:rPr lang="pt-PT" dirty="0" smtClean="0"/>
                  <a:t>, encontre a soma dos primeiros 10 termos.</a:t>
                </a:r>
              </a:p>
              <a:p>
                <a:pPr marL="0" indent="0">
                  <a:buNone/>
                </a:pPr>
                <a:endParaRPr lang="pt-PT" dirty="0" smtClean="0"/>
              </a:p>
              <a:p>
                <a:pPr marL="0" indent="0">
                  <a:buNone/>
                </a:pPr>
                <a:r>
                  <a:rPr lang="pt-PT" b="1" dirty="0" smtClean="0"/>
                  <a:t>Solução</a:t>
                </a:r>
                <a:r>
                  <a:rPr lang="pt-PT" dirty="0" smtClean="0"/>
                  <a:t> </a:t>
                </a:r>
              </a:p>
              <a:p>
                <a:pPr marL="0" indent="0">
                  <a:buNone/>
                </a:pPr>
                <a:r>
                  <a:rPr lang="pt-BR" dirty="0"/>
                  <a:t>Dado o primeiro termo e a razão, o termo geral é:</a:t>
                </a:r>
                <a:endParaRPr lang="pt-PT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PT" b="0" i="1" smtClean="0">
                        <a:latin typeface="Cambria Math"/>
                      </a:rPr>
                      <m:t>=4+3</m:t>
                    </m:r>
                    <m:d>
                      <m:dPr>
                        <m:ctrlPr>
                          <a:rPr lang="pt-PT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  <m:r>
                          <a:rPr lang="pt-PT" b="0" i="1" smtClean="0">
                            <a:latin typeface="Cambria Math"/>
                          </a:rPr>
                          <m:t>−1</m:t>
                        </m:r>
                      </m:e>
                    </m:d>
                    <m:r>
                      <a:rPr lang="pt-PT" b="0" i="1" smtClean="0">
                        <a:latin typeface="Cambria Math"/>
                      </a:rPr>
                      <m:t>=3</m:t>
                    </m:r>
                    <m:r>
                      <a:rPr lang="pt-PT" b="0" i="1" smtClean="0">
                        <a:latin typeface="Cambria Math"/>
                      </a:rPr>
                      <m:t>𝑛</m:t>
                    </m:r>
                    <m:r>
                      <a:rPr lang="pt-PT" b="0" i="1" smtClean="0">
                        <a:latin typeface="Cambria Math"/>
                      </a:rPr>
                      <m:t>+1</m:t>
                    </m:r>
                  </m:oMath>
                </a14:m>
                <a:r>
                  <a:rPr lang="pt-PT" dirty="0" smtClean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10</m:t>
                        </m:r>
                      </m:sub>
                    </m:sSub>
                    <m:r>
                      <a:rPr lang="pt-PT" b="0" i="1" smtClean="0">
                        <a:latin typeface="Cambria Math"/>
                      </a:rPr>
                      <m:t>=31</m:t>
                    </m:r>
                  </m:oMath>
                </a14:m>
                <a:r>
                  <a:rPr lang="pt-PT" dirty="0" smtClean="0"/>
                  <a:t> </a:t>
                </a:r>
              </a:p>
              <a:p>
                <a:pPr marL="0" indent="0">
                  <a:buNone/>
                </a:pPr>
                <a:endParaRPr lang="pt-PT" dirty="0" smtClean="0"/>
              </a:p>
              <a:p>
                <a:pPr marL="0" indent="0">
                  <a:buNone/>
                </a:pPr>
                <a:r>
                  <a:rPr lang="pt-PT" dirty="0" smtClean="0"/>
                  <a:t>Então: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pt-PT" b="0" i="1" smtClean="0">
                              <a:latin typeface="Cambria Math"/>
                            </a:rPr>
                            <m:t>10</m:t>
                          </m:r>
                        </m:sub>
                      </m:sSub>
                      <m:r>
                        <a:rPr lang="pt-PT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PT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pt-PT" b="0" i="1" smtClean="0">
                              <a:latin typeface="Cambria Math"/>
                            </a:rPr>
                            <m:t>4+31</m:t>
                          </m:r>
                        </m:num>
                        <m:den>
                          <m:r>
                            <a:rPr lang="pt-PT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pt-PT" b="0" i="1" smtClean="0">
                          <a:latin typeface="Cambria Math"/>
                          <a:ea typeface="Cambria Math"/>
                        </a:rPr>
                        <m:t>×10=175</m:t>
                      </m:r>
                    </m:oMath>
                  </m:oMathPara>
                </a14:m>
                <a:endParaRPr lang="pt-PT" dirty="0" smtClean="0"/>
              </a:p>
              <a:p>
                <a:pPr marL="0" indent="0">
                  <a:buNone/>
                </a:pPr>
                <a:endParaRPr lang="pt-PT" dirty="0" smtClean="0"/>
              </a:p>
              <a:p>
                <a:pPr marL="0" indent="0">
                  <a:buNone/>
                </a:pPr>
                <a:endParaRPr lang="pt-P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502" t="-1600" r="-6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6671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Sucessão</a:t>
            </a:r>
            <a:endParaRPr lang="pt-P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pt-BR" b="1" dirty="0" smtClean="0"/>
                  <a:t>Progressão Geométrica (PG)</a:t>
                </a:r>
                <a:endParaRPr lang="pt-PT" dirty="0"/>
              </a:p>
              <a:p>
                <a:pPr marL="0" indent="0">
                  <a:buNone/>
                </a:pPr>
                <a:r>
                  <a:rPr lang="pt-BR" b="1" dirty="0"/>
                  <a:t>Definição:</a:t>
                </a:r>
                <a:r>
                  <a:rPr lang="pt-BR" dirty="0"/>
                  <a:t> uma sucessão  é PG se e somente </a:t>
                </a:r>
                <a:r>
                  <a:rPr lang="pt-BR" dirty="0" smtClean="0"/>
                  <a:t>se a razão de cada termo com o seu anterior é constante, isto é:</a:t>
                </a:r>
              </a:p>
              <a:p>
                <a:pPr marL="0" indent="0">
                  <a:buNone/>
                </a:pPr>
                <a:endParaRPr lang="pt-BR" dirty="0" smtClean="0"/>
              </a:p>
              <a:p>
                <a:pPr marL="0" indent="0">
                  <a:buNone/>
                </a:pPr>
                <a:r>
                  <a:rPr lang="pt-BR" dirty="0" smtClean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PT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pt-PT" b="0" i="1" smtClean="0">
                                <a:latin typeface="Cambria Math"/>
                              </a:rPr>
                              <m:t>𝑢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pt-PT" b="0" i="1" smtClean="0">
                                <a:latin typeface="Cambria Math"/>
                              </a:rPr>
                              <m:t>+1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pt-PT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pt-PT" b="0" i="1" smtClean="0">
                                <a:latin typeface="Cambria Math"/>
                              </a:rPr>
                              <m:t>𝑢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pt-PT" b="0" i="1" smtClean="0">
                        <a:latin typeface="Cambria Math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 smtClean="0"/>
                  <a:t>.</a:t>
                </a:r>
              </a:p>
              <a:p>
                <a:pPr marL="0" indent="0">
                  <a:buNone/>
                </a:pPr>
                <a:endParaRPr lang="pt-BR" dirty="0" smtClean="0"/>
              </a:p>
              <a:p>
                <a:pPr marL="0" indent="0">
                  <a:buNone/>
                </a:pPr>
                <a:r>
                  <a:rPr lang="pt-BR" b="1" dirty="0"/>
                  <a:t>Termo geral de uma PG</a:t>
                </a:r>
                <a:endParaRPr lang="pt-PT" dirty="0"/>
              </a:p>
              <a:p>
                <a:pPr marL="0" indent="0">
                  <a:buNone/>
                </a:pPr>
                <a:r>
                  <a:rPr lang="pt-BR" dirty="0"/>
                  <a:t>O termo geral de uma PG de razão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b="1" dirty="0" smtClean="0"/>
                  <a:t> </a:t>
                </a:r>
                <a:r>
                  <a:rPr lang="pt-BR" dirty="0"/>
                  <a:t>e sendo</a:t>
                </a:r>
                <a:r>
                  <a:rPr lang="pt-BR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b="1" dirty="0" smtClean="0"/>
                  <a:t> </a:t>
                </a:r>
                <a:r>
                  <a:rPr lang="pt-BR" dirty="0"/>
                  <a:t>o</a:t>
                </a:r>
                <a:r>
                  <a:rPr lang="pt-BR" b="1" dirty="0"/>
                  <a:t> </a:t>
                </a:r>
                <a:r>
                  <a:rPr lang="pt-BR" dirty="0"/>
                  <a:t>primeiro </a:t>
                </a:r>
                <a:r>
                  <a:rPr lang="pt-BR" dirty="0" smtClean="0"/>
                  <a:t>termo,</a:t>
                </a:r>
                <a:r>
                  <a:rPr lang="pt-BR" b="1" dirty="0" smtClean="0"/>
                  <a:t> </a:t>
                </a:r>
                <a:r>
                  <a:rPr lang="pt-BR" dirty="0"/>
                  <a:t>é</a:t>
                </a:r>
                <a:r>
                  <a:rPr lang="pt-BR" dirty="0" smtClean="0"/>
                  <a:t> </a:t>
                </a:r>
                <a:r>
                  <a:rPr lang="pt-BR" dirty="0"/>
                  <a:t>dado </a:t>
                </a:r>
                <a:r>
                  <a:rPr lang="pt-BR" dirty="0" smtClean="0"/>
                  <a:t>por:</a:t>
                </a:r>
              </a:p>
              <a:p>
                <a:pPr marL="0" indent="0">
                  <a:buNone/>
                </a:pPr>
                <a:endParaRPr lang="pt-BR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PT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PT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pt-PT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/>
                          </a:rPr>
                          <m:t>𝑞</m:t>
                        </m:r>
                      </m:e>
                      <m:sup>
                        <m:r>
                          <a:rPr lang="pt-PT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  <m:r>
                          <a:rPr lang="pt-PT" b="0" i="1" smtClean="0">
                            <a:latin typeface="Cambria Math"/>
                            <a:ea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pt-PT" b="0" dirty="0" smtClean="0">
                    <a:ea typeface="Cambria Math"/>
                  </a:rPr>
                  <a:t> </a:t>
                </a:r>
              </a:p>
              <a:p>
                <a:pPr marL="0" indent="0">
                  <a:buNone/>
                </a:pPr>
                <a:endParaRPr lang="pt-PT" b="0" dirty="0" smtClean="0">
                  <a:ea typeface="Cambria Math"/>
                </a:endParaRPr>
              </a:p>
              <a:p>
                <a:pPr marL="0" indent="0">
                  <a:buNone/>
                </a:pPr>
                <a:r>
                  <a:rPr lang="pt-PT" b="1" dirty="0" smtClean="0"/>
                  <a:t>Soma de </a:t>
                </a:r>
                <a14:m>
                  <m:oMath xmlns:m="http://schemas.openxmlformats.org/officeDocument/2006/math">
                    <m:r>
                      <a:rPr lang="pt-PT" b="1" i="1" smtClean="0">
                        <a:latin typeface="Cambria Math"/>
                      </a:rPr>
                      <m:t>𝒏</m:t>
                    </m:r>
                  </m:oMath>
                </a14:m>
                <a:r>
                  <a:rPr lang="pt-PT" b="1" dirty="0" smtClean="0"/>
                  <a:t> termos de uma PG</a:t>
                </a:r>
              </a:p>
              <a:p>
                <a:pPr marL="0" indent="0">
                  <a:buNone/>
                </a:pPr>
                <a:endParaRPr lang="pt-PT" b="1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PT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f>
                      <m:fPr>
                        <m:ctrlPr>
                          <a:rPr lang="pt-PT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pt-PT" b="0" i="1" smtClean="0">
                            <a:latin typeface="Cambria Math"/>
                          </a:rPr>
                          <m:t>1−</m:t>
                        </m:r>
                        <m:sSup>
                          <m:sSupPr>
                            <m:ctrlPr>
                              <a:rPr lang="pt-PT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pt-PT" b="0" i="1" smtClean="0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pt-PT" b="0" i="1" smtClean="0">
                            <a:latin typeface="Cambria Math"/>
                          </a:rPr>
                          <m:t>1−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lang="pt-PT" dirty="0" smtClean="0"/>
                  <a:t>, com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≠1</m:t>
                    </m:r>
                  </m:oMath>
                </a14:m>
                <a:endParaRPr lang="pt-PT" dirty="0"/>
              </a:p>
              <a:p>
                <a:pPr marL="0" indent="0">
                  <a:buNone/>
                </a:pPr>
                <a:endParaRPr lang="pt-P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717" t="-2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9647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Sucessões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pt-BR" b="1" dirty="0" smtClean="0"/>
                  <a:t>Sucessão Limitada</a:t>
                </a:r>
                <a:endParaRPr lang="pt-PT" dirty="0"/>
              </a:p>
              <a:p>
                <a:pPr marL="0" indent="0">
                  <a:buNone/>
                </a:pPr>
                <a:r>
                  <a:rPr lang="pt-BR" dirty="0"/>
                  <a:t>Considere agora a sucessão: </a:t>
                </a:r>
                <a:r>
                  <a:rPr lang="pt-BR" dirty="0" smtClean="0"/>
                  <a:t>u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:</m:t>
                    </m:r>
                    <m:r>
                      <a:rPr lang="pt-BR" i="1">
                        <a:latin typeface="Cambria Math"/>
                      </a:rPr>
                      <m:t>𝐼𝑁</m:t>
                    </m:r>
                    <m:r>
                      <a:rPr lang="pt-BR" i="1">
                        <a:latin typeface="Cambria Math"/>
                      </a:rPr>
                      <m:t>→</m:t>
                    </m:r>
                    <m:r>
                      <a:rPr lang="pt-BR" i="1">
                        <a:latin typeface="Cambria Math"/>
                      </a:rPr>
                      <m:t>𝐼𝑅</m:t>
                    </m:r>
                  </m:oMath>
                </a14:m>
                <a:endParaRPr lang="pt-PT" dirty="0" smtClean="0"/>
              </a:p>
              <a:p>
                <a:pPr marL="0" indent="0">
                  <a:buNone/>
                </a:pPr>
                <a:endParaRPr lang="pt-PT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PT" i="1">
                            <a:latin typeface="Cambria Math"/>
                          </a:rPr>
                        </m:ctrlPr>
                      </m:fPr>
                      <m:num>
                        <m:r>
                          <a:rPr lang="pt-BR" i="1">
                            <a:latin typeface="Cambria Math"/>
                          </a:rPr>
                          <m:t>3</m:t>
                        </m:r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+1</m:t>
                        </m:r>
                      </m:num>
                      <m:den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+1</m:t>
                        </m:r>
                      </m:den>
                    </m:f>
                  </m:oMath>
                </a14:m>
                <a:r>
                  <a:rPr lang="pt-PT" dirty="0" smtClean="0"/>
                  <a:t> </a:t>
                </a:r>
              </a:p>
              <a:p>
                <a:pPr marL="0" indent="0">
                  <a:buNone/>
                </a:pPr>
                <a:r>
                  <a:rPr lang="pt-BR" dirty="0"/>
                  <a:t>Desta sucessão vem: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=2  </m:t>
                    </m:r>
                    <m:sSub>
                      <m:sSubPr>
                        <m:ctrlPr>
                          <a:rPr lang="pt-PT" i="1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=2, </m:t>
                    </m:r>
                    <m:d>
                      <m:dPr>
                        <m:ctrlPr>
                          <a:rPr lang="pt-PT" i="1">
                            <a:latin typeface="Cambria Math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3</m:t>
                        </m:r>
                      </m:e>
                    </m:d>
                    <m:r>
                      <a:rPr lang="pt-BR" i="1">
                        <a:latin typeface="Cambria Math"/>
                      </a:rPr>
                      <m:t>  </m:t>
                    </m:r>
                    <m:sSub>
                      <m:sSubPr>
                        <m:ctrlPr>
                          <a:rPr lang="pt-PT" i="1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=2,5 </m:t>
                    </m:r>
                  </m:oMath>
                </a14:m>
                <a:endParaRPr lang="pt-PT" i="1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=2,6    </m:t>
                    </m:r>
                    <m:sSub>
                      <m:sSubPr>
                        <m:ctrlPr>
                          <a:rPr lang="pt-PT" i="1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=2,7….</m:t>
                    </m:r>
                  </m:oMath>
                </a14:m>
                <a:r>
                  <a:rPr lang="pt-PT" dirty="0" smtClean="0"/>
                  <a:t> </a:t>
                </a:r>
              </a:p>
              <a:p>
                <a:pPr marL="0" indent="0">
                  <a:buNone/>
                </a:pPr>
                <a:endParaRPr lang="pt-PT" dirty="0" smtClean="0"/>
              </a:p>
              <a:p>
                <a:pPr marL="0" indent="0">
                  <a:buNone/>
                </a:pPr>
                <a:r>
                  <a:rPr lang="pt-PT" b="1" dirty="0" smtClean="0"/>
                  <a:t>Monotonia</a:t>
                </a:r>
                <a:r>
                  <a:rPr lang="pt-PT" dirty="0" smtClean="0"/>
                  <a:t>: </a:t>
                </a:r>
              </a:p>
              <a:p>
                <a:pPr marL="0" indent="0">
                  <a:buNone/>
                </a:pPr>
                <a:endParaRPr lang="pt-PT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PT" i="1">
                            <a:latin typeface="Cambria Math"/>
                          </a:rPr>
                        </m:ctrlPr>
                      </m:fPr>
                      <m:num>
                        <m:r>
                          <a:rPr lang="pt-BR" i="1">
                            <a:latin typeface="Cambria Math"/>
                          </a:rPr>
                          <m:t>3</m:t>
                        </m:r>
                        <m:d>
                          <m:dPr>
                            <m:ctrlPr>
                              <a:rPr lang="pt-PT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/>
                              </a:rPr>
                              <m:t>𝑛</m:t>
                            </m:r>
                            <m:r>
                              <a:rPr lang="pt-BR" i="1">
                                <a:latin typeface="Cambria Math"/>
                              </a:rPr>
                              <m:t>+1</m:t>
                            </m:r>
                          </m:e>
                        </m:d>
                        <m:r>
                          <a:rPr lang="pt-BR" i="1">
                            <a:latin typeface="Cambria Math"/>
                          </a:rPr>
                          <m:t>+1</m:t>
                        </m:r>
                      </m:num>
                      <m:den>
                        <m:d>
                          <m:dPr>
                            <m:ctrlPr>
                              <a:rPr lang="pt-PT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/>
                              </a:rPr>
                              <m:t>𝑛</m:t>
                            </m:r>
                            <m:r>
                              <a:rPr lang="pt-BR" i="1">
                                <a:latin typeface="Cambria Math"/>
                              </a:rPr>
                              <m:t>+1</m:t>
                            </m:r>
                          </m:e>
                        </m:d>
                        <m:r>
                          <a:rPr lang="pt-BR" i="1">
                            <a:latin typeface="Cambria Math"/>
                          </a:rPr>
                          <m:t>+1</m:t>
                        </m:r>
                      </m:den>
                    </m:f>
                    <m:r>
                      <a:rPr lang="pt-BR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PT" i="1">
                            <a:latin typeface="Cambria Math"/>
                          </a:rPr>
                        </m:ctrlPr>
                      </m:fPr>
                      <m:num>
                        <m:r>
                          <a:rPr lang="pt-BR" i="1">
                            <a:latin typeface="Cambria Math"/>
                          </a:rPr>
                          <m:t>3</m:t>
                        </m:r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+4</m:t>
                        </m:r>
                      </m:num>
                      <m:den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+2</m:t>
                        </m:r>
                      </m:den>
                    </m:f>
                  </m:oMath>
                </a14:m>
                <a:r>
                  <a:rPr lang="pt-BR" dirty="0"/>
                  <a:t> </a:t>
                </a:r>
                <a:endParaRPr lang="pt-BR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pt-PT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PT" i="1">
                            <a:latin typeface="Cambria Math"/>
                          </a:rPr>
                        </m:ctrlPr>
                      </m:fPr>
                      <m:num>
                        <m:r>
                          <a:rPr lang="pt-BR" i="1">
                            <a:latin typeface="Cambria Math"/>
                          </a:rPr>
                          <m:t>3</m:t>
                        </m:r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+4</m:t>
                        </m:r>
                      </m:num>
                      <m:den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+2</m:t>
                        </m:r>
                      </m:den>
                    </m:f>
                    <m:r>
                      <a:rPr lang="pt-BR" i="1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pt-PT" i="1">
                            <a:latin typeface="Cambria Math"/>
                          </a:rPr>
                        </m:ctrlPr>
                      </m:fPr>
                      <m:num>
                        <m:r>
                          <a:rPr lang="pt-BR" i="1">
                            <a:latin typeface="Cambria Math"/>
                          </a:rPr>
                          <m:t>3</m:t>
                        </m:r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+1</m:t>
                        </m:r>
                      </m:num>
                      <m:den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+1</m:t>
                        </m:r>
                      </m:den>
                    </m:f>
                    <m:r>
                      <a:rPr lang="pt-BR" i="1">
                        <a:latin typeface="Cambria Math"/>
                      </a:rPr>
                      <m:t>=</m:t>
                    </m:r>
                  </m:oMath>
                </a14:m>
                <a:r>
                  <a:rPr lang="pt-B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PT" i="1">
                            <a:latin typeface="Cambria Math"/>
                          </a:rPr>
                        </m:ctrlPr>
                      </m:fPr>
                      <m:num>
                        <m:r>
                          <a:rPr lang="pt-BR" i="1">
                            <a:latin typeface="Cambria Math"/>
                          </a:rPr>
                          <m:t>3</m:t>
                        </m:r>
                        <m:sSup>
                          <m:sSupPr>
                            <m:ctrlPr>
                              <a:rPr lang="pt-PT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pt-BR" i="1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pt-BR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pt-BR" i="1">
                            <a:latin typeface="Cambria Math"/>
                          </a:rPr>
                          <m:t>+3</m:t>
                        </m:r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+4</m:t>
                        </m:r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+4−3</m:t>
                        </m:r>
                        <m:sSup>
                          <m:sSupPr>
                            <m:ctrlPr>
                              <a:rPr lang="pt-PT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pt-BR" i="1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pt-BR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pt-BR" i="1">
                            <a:latin typeface="Cambria Math"/>
                          </a:rPr>
                          <m:t>−6</m:t>
                        </m:r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−</m:t>
                        </m:r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−2</m:t>
                        </m:r>
                      </m:num>
                      <m:den>
                        <m:r>
                          <a:rPr lang="pt-BR" i="1">
                            <a:latin typeface="Cambria Math"/>
                          </a:rPr>
                          <m:t>(</m:t>
                        </m:r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+2)(</m:t>
                        </m:r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+1)</m:t>
                        </m:r>
                      </m:den>
                    </m:f>
                    <m:r>
                      <a:rPr lang="pt-BR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PT" i="1">
                            <a:latin typeface="Cambria Math"/>
                          </a:rPr>
                        </m:ctrlPr>
                      </m:fPr>
                      <m:num>
                        <m:r>
                          <a:rPr lang="pt-BR" i="1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pt-BR" i="1">
                            <a:latin typeface="Cambria Math"/>
                          </a:rPr>
                          <m:t>(</m:t>
                        </m:r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+2)(</m:t>
                        </m:r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+1)</m:t>
                        </m:r>
                      </m:den>
                    </m:f>
                  </m:oMath>
                </a14:m>
                <a:r>
                  <a:rPr lang="pt-BR" dirty="0"/>
                  <a:t> </a:t>
                </a:r>
                <a:endParaRPr lang="pt-PT" dirty="0"/>
              </a:p>
              <a:p>
                <a:pPr marL="0" indent="0">
                  <a:buNone/>
                </a:pPr>
                <a:endParaRPr lang="pt-PT" dirty="0"/>
              </a:p>
              <a:p>
                <a:pPr marL="0" indent="0">
                  <a:buNone/>
                </a:pPr>
                <a:endParaRPr lang="pt-PT" dirty="0"/>
              </a:p>
              <a:p>
                <a:pPr marL="0" indent="0">
                  <a:buNone/>
                </a:pPr>
                <a:endParaRPr lang="pt-PT" dirty="0" smtClean="0"/>
              </a:p>
              <a:p>
                <a:pPr marL="0" indent="0">
                  <a:buNone/>
                </a:pPr>
                <a:endParaRPr lang="pt-P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075" t="-25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7990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Sucessões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pt-BR" dirty="0" smtClean="0"/>
                  <a:t>Como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PT" i="1">
                            <a:latin typeface="Cambria Math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+2</m:t>
                        </m:r>
                      </m:e>
                    </m:d>
                    <m:d>
                      <m:dPr>
                        <m:ctrlPr>
                          <a:rPr lang="pt-PT" i="1">
                            <a:latin typeface="Cambria Math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+1</m:t>
                        </m:r>
                      </m:e>
                    </m:d>
                    <m:r>
                      <a:rPr lang="pt-BR" i="1">
                        <a:latin typeface="Cambria Math"/>
                      </a:rPr>
                      <m:t>&gt;0    ∀</m:t>
                    </m:r>
                    <m:r>
                      <a:rPr lang="pt-BR" i="1">
                        <a:latin typeface="Cambria Math"/>
                      </a:rPr>
                      <m:t>𝑛</m:t>
                    </m:r>
                    <m:r>
                      <a:rPr lang="pt-BR" i="1">
                        <a:latin typeface="Cambria Math"/>
                      </a:rPr>
                      <m:t>∈</m:t>
                    </m:r>
                    <m:r>
                      <a:rPr lang="pt-BR" i="1">
                        <a:latin typeface="Cambria Math"/>
                      </a:rPr>
                      <m:t>𝐼𝑁</m:t>
                    </m:r>
                  </m:oMath>
                </a14:m>
                <a:r>
                  <a:rPr lang="pt-BR" dirty="0"/>
                  <a:t>, vem que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PT" i="1">
                            <a:latin typeface="Cambria Math"/>
                          </a:rPr>
                        </m:ctrlPr>
                      </m:fPr>
                      <m:num>
                        <m:r>
                          <a:rPr lang="pt-BR" i="1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pt-BR" i="1">
                            <a:latin typeface="Cambria Math"/>
                          </a:rPr>
                          <m:t>(</m:t>
                        </m:r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+2)(</m:t>
                        </m:r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+1)</m:t>
                        </m:r>
                      </m:den>
                    </m:f>
                    <m:r>
                      <a:rPr lang="pt-BR" i="1">
                        <a:latin typeface="Cambria Math"/>
                      </a:rPr>
                      <m:t>&gt;0   </m:t>
                    </m:r>
                  </m:oMath>
                </a14:m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∀</m:t>
                    </m:r>
                    <m:r>
                      <a:rPr lang="pt-BR" i="1">
                        <a:latin typeface="Cambria Math"/>
                      </a:rPr>
                      <m:t>𝑛</m:t>
                    </m:r>
                    <m:r>
                      <a:rPr lang="pt-BR" i="1">
                        <a:latin typeface="Cambria Math"/>
                      </a:rPr>
                      <m:t>∈</m:t>
                    </m:r>
                    <m:r>
                      <a:rPr lang="pt-BR" i="1">
                        <a:latin typeface="Cambria Math"/>
                      </a:rPr>
                      <m:t>𝐼𝑁</m:t>
                    </m:r>
                  </m:oMath>
                </a14:m>
                <a:endParaRPr lang="pt-PT" dirty="0"/>
              </a:p>
              <a:p>
                <a:pPr marL="0" indent="0">
                  <a:buNone/>
                </a:pPr>
                <a:r>
                  <a:rPr lang="pt-BR" dirty="0"/>
                  <a:t>Agora veja que:</a:t>
                </a:r>
                <a:endParaRPr lang="pt-PT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PT" i="1">
                            <a:latin typeface="Cambria Math"/>
                          </a:rPr>
                        </m:ctrlPr>
                      </m:fPr>
                      <m:num>
                        <m:r>
                          <a:rPr lang="pt-BR" i="1">
                            <a:latin typeface="Cambria Math"/>
                          </a:rPr>
                          <m:t>3</m:t>
                        </m:r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+1</m:t>
                        </m:r>
                      </m:num>
                      <m:den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+1</m:t>
                        </m:r>
                      </m:den>
                    </m:f>
                    <m:r>
                      <a:rPr lang="pt-BR" i="1">
                        <a:latin typeface="Cambria Math"/>
                      </a:rPr>
                      <m:t>=3−</m:t>
                    </m:r>
                    <m:f>
                      <m:fPr>
                        <m:ctrlPr>
                          <a:rPr lang="pt-PT" i="1">
                            <a:latin typeface="Cambria Math"/>
                          </a:rPr>
                        </m:ctrlPr>
                      </m:fPr>
                      <m:num>
                        <m:r>
                          <a:rPr lang="pt-BR" i="1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+1</m:t>
                        </m:r>
                      </m:den>
                    </m:f>
                    <m:r>
                      <a:rPr lang="pt-BR" i="1">
                        <a:latin typeface="Cambria Math"/>
                      </a:rPr>
                      <m:t>&lt;3</m:t>
                    </m:r>
                  </m:oMath>
                </a14:m>
                <a:r>
                  <a:rPr lang="pt-BR" dirty="0"/>
                  <a:t>, visto que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PT" i="1">
                            <a:latin typeface="Cambria Math"/>
                          </a:rPr>
                        </m:ctrlPr>
                      </m:fPr>
                      <m:num>
                        <m:r>
                          <a:rPr lang="pt-BR" i="1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+1</m:t>
                        </m:r>
                      </m:den>
                    </m:f>
                    <m:r>
                      <a:rPr lang="pt-BR" i="1">
                        <a:latin typeface="Cambria Math"/>
                      </a:rPr>
                      <m:t>&gt;0</m:t>
                    </m:r>
                  </m:oMath>
                </a14:m>
                <a:endParaRPr lang="pt-PT" dirty="0" smtClean="0"/>
              </a:p>
              <a:p>
                <a:pPr marL="0" indent="0">
                  <a:buNone/>
                </a:pPr>
                <a:endParaRPr lang="pt-PT" dirty="0"/>
              </a:p>
              <a:p>
                <a:pPr marL="0" indent="0">
                  <a:buNone/>
                </a:pPr>
                <a:r>
                  <a:rPr lang="pt-BR" dirty="0"/>
                  <a:t>Logo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3</m:t>
                    </m:r>
                  </m:oMath>
                </a14:m>
                <a:r>
                  <a:rPr lang="pt-BR" dirty="0"/>
                  <a:t> é </a:t>
                </a:r>
                <a:r>
                  <a:rPr lang="pt-BR" dirty="0" smtClean="0"/>
                  <a:t>majorante, </a:t>
                </a:r>
                <a:r>
                  <a:rPr lang="pt-BR" dirty="0"/>
                  <a:t>então a sucessão diz majorada e o termo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=2</m:t>
                    </m:r>
                  </m:oMath>
                </a14:m>
                <a:r>
                  <a:rPr lang="pt-BR" dirty="0"/>
                  <a:t> é o minorante do conjunto dos termos da sucessão daí dizemos que a sucessão é minorada</a:t>
                </a:r>
                <a:r>
                  <a:rPr lang="pt-BR" dirty="0" smtClean="0"/>
                  <a:t>.</a:t>
                </a:r>
              </a:p>
              <a:p>
                <a:pPr marL="0" indent="0">
                  <a:buNone/>
                </a:pPr>
                <a:endParaRPr lang="pt-BR" dirty="0" smtClean="0"/>
              </a:p>
              <a:p>
                <a:pPr marL="0" indent="0">
                  <a:buNone/>
                </a:pPr>
                <a:r>
                  <a:rPr lang="pt-BR" dirty="0"/>
                  <a:t>Assim, temos que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2&lt;</m:t>
                    </m:r>
                    <m:f>
                      <m:fPr>
                        <m:ctrlPr>
                          <a:rPr lang="pt-PT" i="1">
                            <a:latin typeface="Cambria Math"/>
                          </a:rPr>
                        </m:ctrlPr>
                      </m:fPr>
                      <m:num>
                        <m:r>
                          <a:rPr lang="pt-BR" i="1">
                            <a:latin typeface="Cambria Math"/>
                          </a:rPr>
                          <m:t>3</m:t>
                        </m:r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+1</m:t>
                        </m:r>
                      </m:num>
                      <m:den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+1</m:t>
                        </m:r>
                      </m:den>
                    </m:f>
                    <m:r>
                      <a:rPr lang="pt-BR" i="1">
                        <a:latin typeface="Cambria Math"/>
                      </a:rPr>
                      <m:t>&lt;3</m:t>
                    </m:r>
                  </m:oMath>
                </a14:m>
                <a:r>
                  <a:rPr lang="pt-BR" dirty="0"/>
                  <a:t>, isto é, a sucessão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PT" i="1">
                            <a:latin typeface="Cambria Math"/>
                          </a:rPr>
                        </m:ctrlPr>
                      </m:fPr>
                      <m:num>
                        <m:r>
                          <a:rPr lang="pt-BR" i="1">
                            <a:latin typeface="Cambria Math"/>
                          </a:rPr>
                          <m:t>3</m:t>
                        </m:r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+1</m:t>
                        </m:r>
                      </m:num>
                      <m:den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+1</m:t>
                        </m:r>
                      </m:den>
                    </m:f>
                    <m:r>
                      <a:rPr lang="pt-BR" i="1">
                        <a:latin typeface="Cambria Math"/>
                      </a:rPr>
                      <m:t> </m:t>
                    </m:r>
                  </m:oMath>
                </a14:m>
                <a:r>
                  <a:rPr lang="pt-BR" dirty="0"/>
                  <a:t>é limitada</a:t>
                </a:r>
                <a:r>
                  <a:rPr lang="pt-BR" dirty="0" smtClean="0"/>
                  <a:t>.</a:t>
                </a:r>
              </a:p>
              <a:p>
                <a:pPr marL="0" indent="0">
                  <a:buNone/>
                </a:pPr>
                <a:endParaRPr lang="pt-PT" dirty="0"/>
              </a:p>
              <a:p>
                <a:pPr marL="0" indent="0">
                  <a:buNone/>
                </a:pPr>
                <a:r>
                  <a:rPr lang="pt-BR" b="1" dirty="0"/>
                  <a:t>Uma sucessão diz-se limitada quando o conjunto dos seus termos tem um majorante e um minorante, ou seja, quando é majorada e minorada.</a:t>
                </a:r>
                <a:endParaRPr lang="pt-PT" dirty="0"/>
              </a:p>
              <a:p>
                <a:pPr marL="0" indent="0">
                  <a:buNone/>
                </a:pPr>
                <a:endParaRPr lang="pt-PT" dirty="0"/>
              </a:p>
              <a:p>
                <a:pPr marL="0" indent="0">
                  <a:buNone/>
                </a:pPr>
                <a:endParaRPr lang="pt-P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860" t="-12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4680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Sucessões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pt-PT" b="1" dirty="0" smtClean="0"/>
                  <a:t>Limite de sucessões</a:t>
                </a:r>
              </a:p>
              <a:p>
                <a:pPr marL="0" indent="0">
                  <a:buNone/>
                </a:pPr>
                <a:r>
                  <a:rPr lang="pt-PT" dirty="0" smtClean="0"/>
                  <a:t>Seja </a:t>
                </a:r>
                <a:r>
                  <a:rPr lang="pt-PT" dirty="0"/>
                  <a:t>dada uma </a:t>
                </a:r>
                <a:r>
                  <a:rPr lang="pt-PT" dirty="0" smtClean="0"/>
                  <a:t>sucessão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PT" dirty="0" smtClean="0"/>
                  <a:t>.</a:t>
                </a:r>
                <a:endParaRPr lang="pt-PT" dirty="0"/>
              </a:p>
              <a:p>
                <a:pPr marL="0" indent="0">
                  <a:buNone/>
                </a:pPr>
                <a:r>
                  <a:rPr lang="pt-PT" dirty="0" smtClean="0"/>
                  <a:t>O </a:t>
                </a:r>
                <a:r>
                  <a:rPr lang="pt-PT" dirty="0"/>
                  <a:t>número real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𝐿</m:t>
                    </m:r>
                  </m:oMath>
                </a14:m>
                <a:r>
                  <a:rPr lang="pt-PT" dirty="0" smtClean="0"/>
                  <a:t> </a:t>
                </a:r>
                <a:r>
                  <a:rPr lang="pt-PT" dirty="0"/>
                  <a:t>chama-se limite de , quando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pt-PT" dirty="0" smtClean="0"/>
                  <a:t> </a:t>
                </a:r>
                <a:r>
                  <a:rPr lang="pt-PT" dirty="0"/>
                  <a:t>tende para o infinito se é válido o </a:t>
                </a:r>
                <a:r>
                  <a:rPr lang="pt-PT" dirty="0" smtClean="0"/>
                  <a:t>seguinte</a:t>
                </a:r>
              </a:p>
              <a:p>
                <a:pPr marL="0" indent="0">
                  <a:buNone/>
                </a:pPr>
                <a:endParaRPr lang="pt-PT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pt-PT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pt-PT" i="1" smtClean="0">
                        <a:latin typeface="Cambria Math"/>
                        <a:ea typeface="Cambria Math"/>
                      </a:rPr>
                      <m:t>𝜀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&gt;0,</m:t>
                    </m:r>
                    <m:r>
                      <a:rPr lang="pt-PT" i="1" smtClean="0">
                        <a:latin typeface="Cambria Math"/>
                        <a:ea typeface="Cambria Math"/>
                      </a:rPr>
                      <m:t>∃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𝑁</m:t>
                    </m:r>
                    <m:d>
                      <m:dPr>
                        <m:ctrlPr>
                          <a:rPr lang="pt-PT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/>
                            <a:ea typeface="Cambria Math"/>
                          </a:rPr>
                          <m:t>𝜀</m:t>
                        </m:r>
                      </m:e>
                    </m:d>
                    <m:r>
                      <a:rPr lang="pt-PT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𝐼𝑁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: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&gt;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𝑁</m:t>
                    </m:r>
                    <m:d>
                      <m:dPr>
                        <m:ctrlPr>
                          <a:rPr lang="pt-PT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/>
                            <a:ea typeface="Cambria Math"/>
                          </a:rPr>
                          <m:t>𝜀</m:t>
                        </m:r>
                      </m:e>
                    </m:d>
                    <m:r>
                      <a:rPr lang="pt-PT" b="0" i="1" smtClean="0">
                        <a:latin typeface="Cambria Math"/>
                        <a:ea typeface="Cambria Math"/>
                      </a:rPr>
                      <m:t>⟹</m:t>
                    </m:r>
                    <m:d>
                      <m:dPr>
                        <m:begChr m:val="|"/>
                        <m:endChr m:val="|"/>
                        <m:ctrlPr>
                          <a:rPr lang="pt-PT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PT" b="0" i="1" smtClean="0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pt-PT" b="0" i="1" smtClean="0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pt-PT" b="0" i="1" smtClean="0">
                            <a:latin typeface="Cambria Math"/>
                            <a:ea typeface="Cambria Math"/>
                          </a:rPr>
                          <m:t>𝐿</m:t>
                        </m:r>
                      </m:e>
                    </m:d>
                    <m:r>
                      <a:rPr lang="pt-PT" b="0" i="1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𝜀</m:t>
                    </m:r>
                  </m:oMath>
                </a14:m>
                <a:r>
                  <a:rPr lang="pt-PT" dirty="0" smtClean="0"/>
                  <a:t> </a:t>
                </a:r>
              </a:p>
              <a:p>
                <a:pPr marL="0" indent="0">
                  <a:buNone/>
                </a:pPr>
                <a:endParaRPr lang="pt-PT" dirty="0" smtClean="0"/>
              </a:p>
              <a:p>
                <a:pPr marL="0" indent="0">
                  <a:buNone/>
                </a:pPr>
                <a:r>
                  <a:rPr lang="pt-PT" dirty="0" smtClean="0"/>
                  <a:t>Simbolicamente: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PT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pt-PT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pt-PT" b="0" i="1" smtClean="0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pt-PT" b="0" i="1" smtClean="0">
                            <a:latin typeface="Cambria Math"/>
                          </a:rPr>
                          <m:t>=</m:t>
                        </m:r>
                        <m:r>
                          <a:rPr lang="pt-PT" b="0" i="1" smtClean="0">
                            <a:latin typeface="Cambria Math"/>
                          </a:rPr>
                          <m:t>𝐿</m:t>
                        </m:r>
                      </m:e>
                    </m:func>
                  </m:oMath>
                </a14:m>
                <a:r>
                  <a:rPr lang="pt-PT" dirty="0" smtClean="0"/>
                  <a:t> </a:t>
                </a:r>
                <a:endParaRPr lang="pt-PT" dirty="0"/>
              </a:p>
              <a:p>
                <a:pPr marL="0" indent="0">
                  <a:buNone/>
                </a:pPr>
                <a:r>
                  <a:rPr lang="pt-PT" dirty="0" smtClean="0"/>
                  <a:t>Ou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PT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𝐿</m:t>
                    </m:r>
                  </m:oMath>
                </a14:m>
                <a:r>
                  <a:rPr lang="pt-PT" dirty="0" smtClean="0"/>
                  <a:t> quando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𝑛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→∞</m:t>
                    </m:r>
                  </m:oMath>
                </a14:m>
                <a:endParaRPr lang="pt-P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219" t="-1867" b="-2533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4951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Sucessões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pt-PT" dirty="0" smtClean="0"/>
                  <a:t>Exemplo:</a:t>
                </a:r>
                <a:r>
                  <a:rPr lang="pt-PT" dirty="0"/>
                  <a:t> </a:t>
                </a:r>
                <a:r>
                  <a:rPr lang="pt-PT" dirty="0" smtClean="0"/>
                  <a:t>mostre que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PT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t-PT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pt-PT" b="0" i="1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pt-PT" b="0" i="1" smtClean="0">
                                <a:latin typeface="Cambria Math"/>
                              </a:rPr>
                              <m:t>𝑛</m:t>
                            </m:r>
                          </m:den>
                        </m:f>
                      </m:e>
                    </m:func>
                    <m:r>
                      <a:rPr lang="pt-PT" b="0" i="1" smtClean="0">
                        <a:latin typeface="Cambria Math"/>
                      </a:rPr>
                      <m:t>=0</m:t>
                    </m:r>
                  </m:oMath>
                </a14:m>
                <a:endParaRPr lang="pt-PT" dirty="0" smtClean="0"/>
              </a:p>
              <a:p>
                <a:pPr marL="0" indent="0">
                  <a:buNone/>
                </a:pPr>
                <a:r>
                  <a:rPr lang="pt-PT" dirty="0" smtClean="0"/>
                  <a:t>Solução: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i="1">
                          <a:latin typeface="Cambria Math"/>
                          <a:ea typeface="Cambria Math"/>
                        </a:rPr>
                        <m:t>∀</m:t>
                      </m:r>
                      <m:r>
                        <a:rPr lang="pt-PT" i="1">
                          <a:latin typeface="Cambria Math"/>
                          <a:ea typeface="Cambria Math"/>
                        </a:rPr>
                        <m:t>𝜀</m:t>
                      </m:r>
                      <m:r>
                        <a:rPr lang="pt-PT" i="1">
                          <a:latin typeface="Cambria Math"/>
                          <a:ea typeface="Cambria Math"/>
                        </a:rPr>
                        <m:t>&gt;0,∃</m:t>
                      </m:r>
                      <m:r>
                        <a:rPr lang="pt-PT" i="1">
                          <a:latin typeface="Cambria Math"/>
                          <a:ea typeface="Cambria Math"/>
                        </a:rPr>
                        <m:t>𝑁</m:t>
                      </m:r>
                      <m:d>
                        <m:dPr>
                          <m:ctrlPr>
                            <a:rPr lang="pt-PT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pt-PT" i="1">
                              <a:latin typeface="Cambria Math"/>
                              <a:ea typeface="Cambria Math"/>
                            </a:rPr>
                            <m:t>𝜀</m:t>
                          </m:r>
                        </m:e>
                      </m:d>
                      <m:r>
                        <a:rPr lang="pt-PT" i="1">
                          <a:latin typeface="Cambria Math"/>
                          <a:ea typeface="Cambria Math"/>
                        </a:rPr>
                        <m:t>:</m:t>
                      </m:r>
                      <m:r>
                        <a:rPr lang="pt-PT" i="1">
                          <a:latin typeface="Cambria Math"/>
                          <a:ea typeface="Cambria Math"/>
                        </a:rPr>
                        <m:t>𝑛</m:t>
                      </m:r>
                      <m:r>
                        <a:rPr lang="pt-PT" i="1">
                          <a:latin typeface="Cambria Math"/>
                          <a:ea typeface="Cambria Math"/>
                        </a:rPr>
                        <m:t>&gt;</m:t>
                      </m:r>
                      <m:r>
                        <a:rPr lang="pt-PT" i="1">
                          <a:latin typeface="Cambria Math"/>
                          <a:ea typeface="Cambria Math"/>
                        </a:rPr>
                        <m:t>𝑁</m:t>
                      </m:r>
                      <m:d>
                        <m:dPr>
                          <m:ctrlPr>
                            <a:rPr lang="pt-PT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pt-PT" i="1">
                              <a:latin typeface="Cambria Math"/>
                              <a:ea typeface="Cambria Math"/>
                            </a:rPr>
                            <m:t>𝜀</m:t>
                          </m:r>
                        </m:e>
                      </m:d>
                      <m:r>
                        <a:rPr lang="pt-PT" i="1">
                          <a:latin typeface="Cambria Math"/>
                          <a:ea typeface="Cambria Math"/>
                        </a:rPr>
                        <m:t>⟹</m:t>
                      </m:r>
                      <m:d>
                        <m:dPr>
                          <m:begChr m:val="|"/>
                          <m:endChr m:val="|"/>
                          <m:ctrlPr>
                            <a:rPr lang="pt-PT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i="1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PT" i="1">
                                  <a:latin typeface="Cambria Math"/>
                                  <a:ea typeface="Cambria Math"/>
                                </a:rPr>
                                <m:t>𝑛</m:t>
                              </m:r>
                            </m:sub>
                          </m:sSub>
                          <m:r>
                            <a:rPr lang="pt-PT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pt-PT" i="1">
                              <a:latin typeface="Cambria Math"/>
                              <a:ea typeface="Cambria Math"/>
                            </a:rPr>
                            <m:t>𝐿</m:t>
                          </m:r>
                        </m:e>
                      </m:d>
                      <m:r>
                        <a:rPr lang="pt-PT" i="1"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pt-PT" i="1">
                          <a:latin typeface="Cambria Math"/>
                          <a:ea typeface="Cambria Math"/>
                        </a:rPr>
                        <m:t>𝜀</m:t>
                      </m:r>
                    </m:oMath>
                  </m:oMathPara>
                </a14:m>
                <a:endParaRPr lang="pt-PT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PT" i="1" smtClean="0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t-PT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pt-PT" b="0" i="1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pt-PT" b="0" i="1" smtClean="0">
                                <a:latin typeface="Cambria Math"/>
                              </a:rPr>
                              <m:t>𝑛</m:t>
                            </m:r>
                          </m:den>
                        </m:f>
                        <m:r>
                          <a:rPr lang="pt-PT" b="0" i="1" smtClean="0">
                            <a:latin typeface="Cambria Math"/>
                          </a:rPr>
                          <m:t>−0</m:t>
                        </m:r>
                      </m:e>
                    </m:d>
                    <m:r>
                      <a:rPr lang="pt-PT" b="0" i="1" smtClean="0">
                        <a:latin typeface="Cambria Math"/>
                      </a:rPr>
                      <m:t>&lt;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𝜀</m:t>
                    </m:r>
                  </m:oMath>
                </a14:m>
                <a:r>
                  <a:rPr lang="pt-PT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  <a:ea typeface="Cambria Math"/>
                      </a:rPr>
                      <m:t>⟹</m:t>
                    </m:r>
                    <m:d>
                      <m:dPr>
                        <m:begChr m:val="|"/>
                        <m:endChr m:val="|"/>
                        <m:ctrlPr>
                          <a:rPr lang="pt-PT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t-PT" i="1" smtClean="0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pt-PT" b="0" i="1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pt-PT" i="1" smtClean="0">
                        <a:latin typeface="Cambria Math"/>
                        <a:ea typeface="Cambria Math"/>
                      </a:rPr>
                      <m:t>𝜀</m:t>
                    </m:r>
                    <m:r>
                      <a:rPr lang="pt-PT" i="1">
                        <a:latin typeface="Cambria Math"/>
                        <a:ea typeface="Cambria Math"/>
                      </a:rPr>
                      <m:t>⟹</m:t>
                    </m:r>
                    <m:f>
                      <m:fPr>
                        <m:ctrlPr>
                          <a:rPr lang="pt-PT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pt-PT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num>
                      <m:den>
                        <m:r>
                          <a:rPr lang="pt-PT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den>
                    </m:f>
                    <m:r>
                      <a:rPr lang="pt-PT" b="0" i="1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𝜀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⟺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&gt;</m:t>
                    </m:r>
                    <m:f>
                      <m:fPr>
                        <m:ctrlPr>
                          <a:rPr lang="pt-PT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pt-PT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num>
                      <m:den>
                        <m:r>
                          <a:rPr lang="pt-PT" b="0" i="1" smtClean="0">
                            <a:latin typeface="Cambria Math"/>
                            <a:ea typeface="Cambria Math"/>
                          </a:rPr>
                          <m:t>𝜀</m:t>
                        </m:r>
                      </m:den>
                    </m:f>
                  </m:oMath>
                </a14:m>
                <a:endParaRPr lang="pt-PT" b="0" dirty="0" smtClean="0">
                  <a:ea typeface="Cambria Math"/>
                </a:endParaRPr>
              </a:p>
              <a:p>
                <a:pPr marL="0" indent="0">
                  <a:buNone/>
                </a:pPr>
                <a:endParaRPr lang="pt-PT" b="0" dirty="0" smtClean="0">
                  <a:ea typeface="Cambria Math"/>
                </a:endParaRPr>
              </a:p>
              <a:p>
                <a:pPr marL="0" indent="0">
                  <a:buNone/>
                </a:pPr>
                <a:r>
                  <a:rPr lang="pt-PT" dirty="0" smtClean="0"/>
                  <a:t>Seja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pt-PT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/>
                            <a:ea typeface="Cambria Math"/>
                          </a:rPr>
                          <m:t>𝜀</m:t>
                        </m:r>
                      </m:e>
                    </m:d>
                    <m:r>
                      <a:rPr lang="pt-PT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PT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pt-PT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pt-PT" b="0" i="1" smtClean="0">
                            <a:latin typeface="Cambria Math"/>
                            <a:ea typeface="Cambria Math"/>
                          </a:rPr>
                          <m:t>𝜀</m:t>
                        </m:r>
                      </m:den>
                    </m:f>
                  </m:oMath>
                </a14:m>
                <a:r>
                  <a:rPr lang="pt-PT" dirty="0" smtClean="0"/>
                  <a:t>, tome </a:t>
                </a:r>
                <a14:m>
                  <m:oMath xmlns:m="http://schemas.openxmlformats.org/officeDocument/2006/math">
                    <m:r>
                      <a:rPr lang="pt-PT" i="1" smtClean="0">
                        <a:latin typeface="Cambria Math"/>
                        <a:ea typeface="Cambria Math"/>
                      </a:rPr>
                      <m:t>𝜀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=0,1</m:t>
                    </m:r>
                    <m:r>
                      <a:rPr lang="pt-PT" i="1">
                        <a:latin typeface="Cambria Math"/>
                        <a:ea typeface="Cambria Math"/>
                      </a:rPr>
                      <m:t>⟹</m:t>
                    </m:r>
                    <m:f>
                      <m:fPr>
                        <m:ctrlPr>
                          <a:rPr lang="pt-PT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pt-PT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num>
                      <m:den>
                        <m:r>
                          <a:rPr lang="pt-PT" b="0" i="1" smtClean="0">
                            <a:latin typeface="Cambria Math"/>
                            <a:ea typeface="Cambria Math"/>
                          </a:rPr>
                          <m:t>0,1</m:t>
                        </m:r>
                      </m:den>
                    </m:f>
                    <m:r>
                      <a:rPr lang="pt-PT" b="0" i="1" smtClean="0">
                        <a:latin typeface="Cambria Math"/>
                        <a:ea typeface="Cambria Math"/>
                      </a:rPr>
                      <m:t>=10</m:t>
                    </m:r>
                    <m:r>
                      <a:rPr lang="pt-PT" i="1">
                        <a:latin typeface="Cambria Math"/>
                        <a:ea typeface="Cambria Math"/>
                      </a:rPr>
                      <m:t>⟹</m:t>
                    </m:r>
                    <m:r>
                      <a:rPr lang="pt-PT" i="1"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pt-PT" i="1">
                            <a:latin typeface="Cambria Math"/>
                          </a:rPr>
                        </m:ctrlPr>
                      </m:dPr>
                      <m:e>
                        <m:r>
                          <a:rPr lang="pt-PT" i="1">
                            <a:latin typeface="Cambria Math"/>
                            <a:ea typeface="Cambria Math"/>
                          </a:rPr>
                          <m:t>𝜀</m:t>
                        </m:r>
                      </m:e>
                    </m:d>
                    <m:r>
                      <a:rPr lang="pt-PT" b="0" i="1" smtClean="0">
                        <a:latin typeface="Cambria Math"/>
                        <a:ea typeface="Cambria Math"/>
                      </a:rPr>
                      <m:t>=10</m:t>
                    </m:r>
                  </m:oMath>
                </a14:m>
                <a:endParaRPr lang="pt-PT" dirty="0" smtClean="0"/>
              </a:p>
              <a:p>
                <a:pPr marL="0" indent="0">
                  <a:buNone/>
                </a:pPr>
                <a:r>
                  <a:rPr lang="pt-BR" dirty="0"/>
                  <a:t>Logo, a partir de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10</m:t>
                    </m:r>
                  </m:oMath>
                </a14:m>
                <a:r>
                  <a:rPr lang="pt-BR" dirty="0" smtClean="0"/>
                  <a:t> todos </a:t>
                </a:r>
                <a:r>
                  <a:rPr lang="pt-BR" dirty="0"/>
                  <a:t>os termos da sucessão estão próximos de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0</m:t>
                    </m:r>
                  </m:oMath>
                </a14:m>
                <a:r>
                  <a:rPr lang="pt-BR" dirty="0" smtClean="0"/>
                  <a:t>.</a:t>
                </a:r>
              </a:p>
              <a:p>
                <a:pPr marL="0" indent="0">
                  <a:buNone/>
                </a:pPr>
                <a:endParaRPr lang="pt-BR" dirty="0" smtClean="0"/>
              </a:p>
              <a:p>
                <a:pPr marL="0" indent="0">
                  <a:buNone/>
                </a:pPr>
                <a:r>
                  <a:rPr lang="pt-BR" dirty="0" smtClean="0"/>
                  <a:t>Se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  <a:ea typeface="Cambria Math"/>
                      </a:rPr>
                      <m:t>𝜀</m:t>
                    </m:r>
                    <m:r>
                      <a:rPr lang="pt-PT" i="1">
                        <a:latin typeface="Cambria Math"/>
                        <a:ea typeface="Cambria Math"/>
                      </a:rPr>
                      <m:t>=0,01⟹</m:t>
                    </m:r>
                    <m:f>
                      <m:fPr>
                        <m:ctrlPr>
                          <a:rPr lang="pt-PT" i="1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pt-PT" i="1">
                            <a:latin typeface="Cambria Math"/>
                            <a:ea typeface="Cambria Math"/>
                          </a:rPr>
                          <m:t>1</m:t>
                        </m:r>
                      </m:num>
                      <m:den>
                        <m:r>
                          <a:rPr lang="pt-PT" i="1">
                            <a:latin typeface="Cambria Math"/>
                            <a:ea typeface="Cambria Math"/>
                          </a:rPr>
                          <m:t>0,</m:t>
                        </m:r>
                        <m:r>
                          <a:rPr lang="pt-PT" b="0" i="1" smtClean="0">
                            <a:latin typeface="Cambria Math"/>
                            <a:ea typeface="Cambria Math"/>
                          </a:rPr>
                          <m:t>0</m:t>
                        </m:r>
                        <m:r>
                          <a:rPr lang="pt-PT" i="1">
                            <a:latin typeface="Cambria Math"/>
                            <a:ea typeface="Cambria Math"/>
                          </a:rPr>
                          <m:t>1</m:t>
                        </m:r>
                      </m:den>
                    </m:f>
                    <m:r>
                      <a:rPr lang="pt-PT" i="1">
                        <a:latin typeface="Cambria Math"/>
                        <a:ea typeface="Cambria Math"/>
                      </a:rPr>
                      <m:t>=10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0</m:t>
                    </m:r>
                    <m:r>
                      <a:rPr lang="pt-PT" i="1">
                        <a:latin typeface="Cambria Math"/>
                        <a:ea typeface="Cambria Math"/>
                      </a:rPr>
                      <m:t>⟹</m:t>
                    </m:r>
                    <m:r>
                      <a:rPr lang="pt-PT" i="1"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pt-PT" i="1">
                            <a:latin typeface="Cambria Math"/>
                          </a:rPr>
                        </m:ctrlPr>
                      </m:dPr>
                      <m:e>
                        <m:r>
                          <a:rPr lang="pt-PT" i="1">
                            <a:latin typeface="Cambria Math"/>
                            <a:ea typeface="Cambria Math"/>
                          </a:rPr>
                          <m:t>𝜀</m:t>
                        </m:r>
                      </m:e>
                    </m:d>
                    <m:r>
                      <a:rPr lang="pt-PT" i="1">
                        <a:latin typeface="Cambria Math"/>
                        <a:ea typeface="Cambria Math"/>
                      </a:rPr>
                      <m:t>=1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0</m:t>
                    </m:r>
                    <m:r>
                      <a:rPr lang="pt-PT" i="1">
                        <a:latin typeface="Cambria Math"/>
                        <a:ea typeface="Cambria Math"/>
                      </a:rPr>
                      <m:t>0</m:t>
                    </m:r>
                  </m:oMath>
                </a14:m>
                <a:r>
                  <a:rPr lang="pt-PT" dirty="0" smtClean="0"/>
                  <a:t>, isto é, a partir de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100</m:t>
                    </m:r>
                  </m:oMath>
                </a14:m>
                <a:r>
                  <a:rPr lang="pt-PT" dirty="0" smtClean="0"/>
                  <a:t> todos os termos da sucessão estão </a:t>
                </a:r>
                <a:r>
                  <a:rPr lang="pt-BR" dirty="0"/>
                  <a:t>próximos de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</a:rPr>
                      <m:t>0</m:t>
                    </m:r>
                  </m:oMath>
                </a14:m>
                <a:r>
                  <a:rPr lang="pt-BR" dirty="0"/>
                  <a:t>.</a:t>
                </a:r>
              </a:p>
              <a:p>
                <a:pPr marL="0" indent="0">
                  <a:buNone/>
                </a:pPr>
                <a:endParaRPr lang="pt-PT" dirty="0"/>
              </a:p>
              <a:p>
                <a:pPr marL="0" indent="0">
                  <a:buNone/>
                </a:pPr>
                <a:endParaRPr lang="pt-PT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075" t="-1067" r="-932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1930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Sucessões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pt-PT" b="1" dirty="0" smtClean="0"/>
                  <a:t>Teoremas de limites de sucessão</a:t>
                </a:r>
              </a:p>
              <a:p>
                <a:pPr marL="0" indent="0">
                  <a:buNone/>
                </a:pPr>
                <a:r>
                  <a:rPr lang="pt-PT" dirty="0"/>
                  <a:t>Seguem-se alguns teoremas sobre propriedades dos limites</a:t>
                </a:r>
                <a:r>
                  <a:rPr lang="pt-PT" dirty="0" smtClean="0"/>
                  <a:t>.</a:t>
                </a:r>
              </a:p>
              <a:p>
                <a:pPr marL="0" indent="0">
                  <a:buNone/>
                </a:pPr>
                <a:endParaRPr lang="pt-PT" dirty="0"/>
              </a:p>
              <a:p>
                <a:pPr marL="0" indent="0">
                  <a:buNone/>
                </a:pPr>
                <a:r>
                  <a:rPr lang="pt-PT" b="1" dirty="0"/>
                  <a:t>Teorema 1</a:t>
                </a:r>
                <a:endParaRPr lang="pt-PT" dirty="0"/>
              </a:p>
              <a:p>
                <a:pPr marL="0" indent="0">
                  <a:buNone/>
                </a:pPr>
                <a:r>
                  <a:rPr lang="pt-PT" dirty="0"/>
                  <a:t>O limite de uma sucessão, se existir, é único.</a:t>
                </a:r>
              </a:p>
              <a:p>
                <a:pPr marL="0" indent="0">
                  <a:buNone/>
                </a:pPr>
                <a:r>
                  <a:rPr lang="pt-PT" b="1" dirty="0"/>
                  <a:t>Teorema 2</a:t>
                </a:r>
                <a:endParaRPr lang="pt-PT" dirty="0"/>
              </a:p>
              <a:p>
                <a:pPr marL="0" indent="0">
                  <a:buNone/>
                </a:pPr>
                <a:r>
                  <a:rPr lang="pt-PT" dirty="0"/>
                  <a:t>Sejam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PT" dirty="0" smtClean="0"/>
                  <a:t> </a:t>
                </a:r>
                <a:r>
                  <a:rPr lang="pt-PT" dirty="0"/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PT" dirty="0" smtClean="0"/>
                  <a:t> </a:t>
                </a:r>
                <a:r>
                  <a:rPr lang="pt-PT" dirty="0"/>
                  <a:t>duas </a:t>
                </a:r>
                <a:r>
                  <a:rPr lang="pt-PT" dirty="0" smtClean="0"/>
                  <a:t>sucessões são válidas as proposições:</a:t>
                </a:r>
                <a:endParaRPr lang="pt-PT" dirty="0" smtClean="0"/>
              </a:p>
              <a:p>
                <a:r>
                  <a:rPr lang="pt-PT" dirty="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pt-PT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PT" i="1">
                        <a:latin typeface="Cambria Math"/>
                      </a:rPr>
                      <m:t>=</m:t>
                    </m:r>
                    <m:r>
                      <a:rPr lang="pt-PT" i="1">
                        <a:latin typeface="Cambria Math"/>
                      </a:rPr>
                      <m:t>𝑐</m:t>
                    </m:r>
                    <m:r>
                      <a:rPr lang="pt-PT" i="1">
                        <a:latin typeface="Cambria Math"/>
                      </a:rPr>
                      <m:t>, </m:t>
                    </m:r>
                    <m:r>
                      <a:rPr lang="pt-PT" i="1">
                        <a:latin typeface="Cambria Math"/>
                      </a:rPr>
                      <m:t>𝑐</m:t>
                    </m:r>
                    <m:r>
                      <a:rPr lang="pt-PT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pt-PT" i="1">
                        <a:latin typeface="Cambria Math"/>
                        <a:ea typeface="Cambria Math"/>
                      </a:rPr>
                      <m:t>𝐼𝑅</m:t>
                    </m:r>
                  </m:oMath>
                </a14:m>
                <a:r>
                  <a:rPr lang="pt-PT" dirty="0"/>
                  <a:t>, então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𝑛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pt-PT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pt-PT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pt-PT" i="1">
                            <a:latin typeface="Cambria Math"/>
                          </a:rPr>
                          <m:t>=</m:t>
                        </m:r>
                        <m:r>
                          <a:rPr lang="pt-PT" i="1">
                            <a:latin typeface="Cambria Math"/>
                          </a:rPr>
                          <m:t>𝑐</m:t>
                        </m:r>
                      </m:e>
                    </m:func>
                  </m:oMath>
                </a14:m>
                <a:r>
                  <a:rPr lang="pt-PT" dirty="0"/>
                  <a:t> 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a:rPr lang="pt-PT" b="0" i="0" smtClean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𝑛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pt-PT" i="1">
                            <a:latin typeface="Cambria Math"/>
                          </a:rPr>
                          <m:t>𝑐</m:t>
                        </m:r>
                        <m:sSub>
                          <m:sSubPr>
                            <m:ctrlPr>
                              <a:rPr lang="pt-PT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pt-PT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pt-PT" i="1">
                            <a:latin typeface="Cambria Math"/>
                          </a:rPr>
                          <m:t>=</m:t>
                        </m:r>
                        <m:r>
                          <a:rPr lang="pt-PT" i="1">
                            <a:latin typeface="Cambria Math"/>
                          </a:rPr>
                          <m:t>𝑐</m:t>
                        </m:r>
                        <m:func>
                          <m:funcPr>
                            <m:ctrlPr>
                              <a:rPr lang="pt-PT" i="1">
                                <a:latin typeface="Cambria Math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pt-PT">
                                    <a:latin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pt-PT" i="1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pt-PT" i="1">
                                    <a:latin typeface="Cambria Math"/>
                                    <a:ea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pt-PT" i="1">
                                    <a:latin typeface="Cambria Math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</m:e>
                        </m:func>
                      </m:e>
                    </m:func>
                    <m:r>
                      <a:rPr lang="pt-PT"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pt-PT">
                        <a:latin typeface="Cambria Math"/>
                      </a:rPr>
                      <m:t>c</m:t>
                    </m:r>
                    <m:r>
                      <m:rPr>
                        <m:sty m:val="p"/>
                      </m:rPr>
                      <a:rPr lang="el-GR" i="1">
                        <a:latin typeface="Cambria Math"/>
                        <a:ea typeface="Cambria Math"/>
                      </a:rPr>
                      <m:t>ϵ</m:t>
                    </m:r>
                    <m:r>
                      <a:rPr lang="pt-PT" i="1">
                        <a:latin typeface="Cambria Math"/>
                        <a:ea typeface="Cambria Math"/>
                      </a:rPr>
                      <m:t>𝐼𝑅</m:t>
                    </m:r>
                  </m:oMath>
                </a14:m>
                <a:endParaRPr lang="pt-PT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𝑛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pt-PT" i="1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pt-PT" i="1">
                                    <a:latin typeface="Cambria Math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pt-PT" i="1">
                                <a:latin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pt-PT" i="1">
                                    <a:latin typeface="Cambria Math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pt-PT" i="1">
                            <a:latin typeface="Cambria Math"/>
                          </a:rPr>
                          <m:t>=</m:t>
                        </m:r>
                      </m:e>
                    </m:func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𝑛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pt-PT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pt-PT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pt-PT" i="1">
                            <a:latin typeface="Cambria Math"/>
                          </a:rPr>
                          <m:t>+</m:t>
                        </m:r>
                        <m:func>
                          <m:funcPr>
                            <m:ctrlPr>
                              <a:rPr lang="pt-PT" i="1">
                                <a:latin typeface="Cambria Math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pt-PT">
                                    <a:latin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pt-PT" i="1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pt-PT" i="1">
                                    <a:latin typeface="Cambria Math"/>
                                    <a:ea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pt-PT" i="1">
                                    <a:latin typeface="Cambria Math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</m:e>
                        </m:func>
                        <m:r>
                          <m:rPr>
                            <m:nor/>
                          </m:rPr>
                          <a:rPr lang="pt-PT" dirty="0"/>
                          <m:t> </m:t>
                        </m:r>
                      </m:e>
                    </m:func>
                  </m:oMath>
                </a14:m>
                <a:endParaRPr lang="pt-PT" dirty="0"/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075" t="-1600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3230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Sucessões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pt-PT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𝑛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pt-PT" i="1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pt-PT" i="1">
                                    <a:latin typeface="Cambria Math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pt-PT" i="1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pt-PT" i="1">
                                    <a:latin typeface="Cambria Math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pt-PT" i="1">
                            <a:latin typeface="Cambria Math"/>
                          </a:rPr>
                          <m:t>=</m:t>
                        </m:r>
                        <m:func>
                          <m:funcPr>
                            <m:ctrlPr>
                              <a:rPr lang="pt-PT" i="1">
                                <a:latin typeface="Cambria Math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pt-PT">
                                    <a:latin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pt-PT" i="1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pt-PT" i="1">
                                    <a:latin typeface="Cambria Math"/>
                                    <a:ea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pt-PT" i="1">
                                    <a:latin typeface="Cambria Math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pt-PT" i="1">
                                <a:latin typeface="Cambria Math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pt-PT" i="1">
                                        <a:latin typeface="Cambria Math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PT">
                                        <a:latin typeface="Cambria Math"/>
                                      </a:rPr>
                                      <m:t>lim</m:t>
                                    </m:r>
                                  </m:e>
                                  <m:lim>
                                    <m:r>
                                      <a:rPr lang="pt-PT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pt-PT" i="1">
                                        <a:latin typeface="Cambria Math"/>
                                        <a:ea typeface="Cambria Math"/>
                                      </a:rPr>
                                      <m:t>→∞</m:t>
                                    </m:r>
                                  </m:lim>
                                </m:limLow>
                              </m:fName>
                              <m:e>
                                <m:sSub>
                                  <m:sSubPr>
                                    <m:ctrlPr>
                                      <a:rPr lang="pt-PT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PT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PT" i="1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func>
                          </m:e>
                        </m:func>
                      </m:e>
                    </m:func>
                    <m:r>
                      <a:rPr lang="pt-PT" dirty="0" smtClean="0">
                        <a:latin typeface="Cambria Math"/>
                      </a:rPr>
                      <m:t>  </m:t>
                    </m:r>
                  </m:oMath>
                </a14:m>
                <a:endParaRPr lang="pt-PT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𝑛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pt-PT" i="1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pt-PT" i="1">
                                    <a:latin typeface="Cambria Math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pt-PT" i="1">
                                    <a:latin typeface="Cambria Math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pt-PT" i="1">
                            <a:latin typeface="Cambria Math"/>
                          </a:rPr>
                          <m:t>=</m:t>
                        </m:r>
                      </m:e>
                    </m:func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𝑛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pt-PT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pt-PT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pt-PT" i="1">
                            <a:latin typeface="Cambria Math"/>
                            <a:ea typeface="Cambria Math"/>
                          </a:rPr>
                          <m:t>∙</m:t>
                        </m:r>
                        <m:func>
                          <m:funcPr>
                            <m:ctrlPr>
                              <a:rPr lang="pt-PT" i="1">
                                <a:latin typeface="Cambria Math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pt-PT">
                                    <a:latin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pt-PT" i="1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pt-PT" i="1">
                                    <a:latin typeface="Cambria Math"/>
                                    <a:ea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pt-PT" i="1">
                                    <a:latin typeface="Cambria Math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</m:e>
                        </m:func>
                        <m:r>
                          <m:rPr>
                            <m:nor/>
                          </m:rPr>
                          <a:rPr lang="pt-PT" dirty="0"/>
                          <m:t> </m:t>
                        </m:r>
                      </m:e>
                    </m:func>
                    <m:r>
                      <a:rPr lang="pt-PT" dirty="0">
                        <a:latin typeface="Cambria Math"/>
                      </a:rPr>
                      <m:t> </m:t>
                    </m:r>
                  </m:oMath>
                </a14:m>
                <a:endParaRPr lang="pt-PT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pt-PT" dirty="0" smtClean="0">
                        <a:latin typeface="Cambria Math"/>
                      </a:rPr>
                      <m:t> </m:t>
                    </m:r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𝑛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pt-PT" i="1"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pt-PT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PT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PT" i="1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pt-PT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PT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PT" i="1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pt-PT" dirty="0" smtClean="0">
                        <a:latin typeface="Cambria Math"/>
                      </a:rPr>
                      <m:t> </m:t>
                    </m:r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𝑛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pt-PT" i="1"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pt-PT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PT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PT" i="1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pt-PT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PT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pt-PT" i="1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pt-PT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PT" i="1">
                            <a:latin typeface="Cambria Math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pt-PT" i="1">
                                <a:latin typeface="Cambria Math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pt-PT">
                                    <a:latin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pt-PT" i="1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pt-PT" i="1">
                                    <a:latin typeface="Cambria Math"/>
                                    <a:ea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pt-PT" i="1">
                                    <a:latin typeface="Cambria Math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pt-PT" i="1">
                                <a:latin typeface="Cambria Math"/>
                              </a:rPr>
                              <m:t> 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pt-PT" i="1">
                                <a:latin typeface="Cambria Math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pt-PT">
                                    <a:latin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pt-PT" i="1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pt-PT" i="1">
                                    <a:latin typeface="Cambria Math"/>
                                    <a:ea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pt-PT" i="1">
                                    <a:latin typeface="Cambria Math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</m:e>
                        </m:func>
                      </m:den>
                    </m:f>
                    <m:r>
                      <a:rPr lang="pt-PT" dirty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pt-PT" dirty="0">
                        <a:latin typeface="Cambria Math"/>
                      </a:rPr>
                      <m:t>desde</m:t>
                    </m:r>
                    <m:r>
                      <a:rPr lang="pt-PT" dirty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pt-PT" dirty="0">
                        <a:latin typeface="Cambria Math"/>
                      </a:rPr>
                      <m:t>que</m:t>
                    </m:r>
                    <m:r>
                      <a:rPr lang="pt-PT" dirty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pt-PT" i="1">
                            <a:latin typeface="Cambria Math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pt-PT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PT" i="1" smtClean="0">
                        <a:latin typeface="Cambria Math"/>
                        <a:ea typeface="Cambria Math"/>
                      </a:rPr>
                      <m:t>≠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0</m:t>
                    </m:r>
                    <m:r>
                      <a:rPr lang="pt-PT" i="1" dirty="0" smtClean="0">
                        <a:latin typeface="Cambria Math"/>
                      </a:rPr>
                      <m:t> </m:t>
                    </m:r>
                    <m:r>
                      <a:rPr lang="pt-PT" dirty="0">
                        <a:latin typeface="Cambria Math"/>
                      </a:rPr>
                      <m:t> </m:t>
                    </m:r>
                  </m:oMath>
                </a14:m>
                <a:endParaRPr lang="pt-PT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𝑛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pt-PT" i="1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PT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PT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PT" i="1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pt-PT" i="1">
                                <a:latin typeface="Cambria Math"/>
                              </a:rPr>
                              <m:t>𝑝</m:t>
                            </m:r>
                          </m:sup>
                        </m:sSup>
                        <m:r>
                          <a:rPr lang="pt-PT" i="1">
                            <a:latin typeface="Cambria Math"/>
                          </a:rPr>
                          <m:t>=</m:t>
                        </m:r>
                        <m:sSup>
                          <m:sSupPr>
                            <m:ctrlPr>
                              <a:rPr lang="pt-PT" i="1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pt-PT" i="1">
                                        <a:latin typeface="Cambria Math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pt-PT" i="1">
                                            <a:latin typeface="Cambria Math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pt-PT">
                                            <a:latin typeface="Cambria Math"/>
                                          </a:rPr>
                                          <m:t>lim</m:t>
                                        </m:r>
                                      </m:e>
                                      <m:lim>
                                        <m:r>
                                          <a:rPr lang="pt-PT" i="1">
                                            <a:latin typeface="Cambria Math"/>
                                          </a:rPr>
                                          <m:t>𝑛</m:t>
                                        </m:r>
                                        <m:r>
                                          <a:rPr lang="pt-PT" i="1">
                                            <a:latin typeface="Cambria Math"/>
                                            <a:ea typeface="Cambria Math"/>
                                          </a:rPr>
                                          <m:t>→∞</m:t>
                                        </m:r>
                                      </m:lim>
                                    </m:limLow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pt-PT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PT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pt-PT" i="1">
                                            <a:latin typeface="Cambria Math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d>
                          </m:e>
                          <m:sup>
                            <m:r>
                              <a:rPr lang="pt-PT" i="1">
                                <a:latin typeface="Cambria Math"/>
                              </a:rPr>
                              <m:t>𝑝</m:t>
                            </m:r>
                          </m:sup>
                        </m:sSup>
                      </m:e>
                    </m:func>
                    <m:r>
                      <a:rPr lang="pt-PT" dirty="0">
                        <a:latin typeface="Cambria Math"/>
                      </a:rPr>
                      <m:t> </m:t>
                    </m:r>
                  </m:oMath>
                </a14:m>
                <a:endParaRPr lang="pt-PT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pt-PT" dirty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pt-PT" dirty="0">
                        <a:latin typeface="Cambria Math"/>
                      </a:rPr>
                      <m:t>Em</m:t>
                    </m:r>
                    <m:r>
                      <a:rPr lang="pt-PT" dirty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pt-PT" dirty="0">
                        <a:latin typeface="Cambria Math"/>
                      </a:rPr>
                      <m:t>particular</m:t>
                    </m:r>
                    <m:r>
                      <a:rPr lang="pt-PT" dirty="0">
                        <a:latin typeface="Cambria Math"/>
                      </a:rPr>
                      <m:t> </m:t>
                    </m:r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𝑛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ad>
                          <m:radPr>
                            <m:ctrlPr>
                              <a:rPr lang="pt-PT" i="1">
                                <a:latin typeface="Cambria Math"/>
                              </a:rPr>
                            </m:ctrlPr>
                          </m:radPr>
                          <m:deg>
                            <m:r>
                              <m:rPr>
                                <m:brk m:alnAt="7"/>
                              </m:rPr>
                              <a:rPr lang="pt-PT" i="1">
                                <a:latin typeface="Cambria Math"/>
                              </a:rPr>
                              <m:t>𝑞</m:t>
                            </m:r>
                          </m:deg>
                          <m:e>
                            <m:sSup>
                              <m:sSup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pt-PT" i="1">
                                    <a:latin typeface="Cambria Math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PT" b="0" i="1" smtClean="0">
                                    <a:latin typeface="Cambria Math"/>
                                  </a:rPr>
                                  <m:t>𝑝</m:t>
                                </m:r>
                              </m:sup>
                            </m:sSup>
                          </m:e>
                        </m:rad>
                        <m:r>
                          <a:rPr lang="pt-PT" b="0" i="1" smtClean="0">
                            <a:latin typeface="Cambria Math"/>
                          </a:rPr>
                          <m:t>=</m:t>
                        </m:r>
                        <m:r>
                          <a:rPr lang="pt-PT" b="0" i="1" smtClean="0">
                            <a:latin typeface="Cambria Math"/>
                          </a:rPr>
                          <m:t>𝑞</m:t>
                        </m:r>
                        <m:rad>
                          <m:radPr>
                            <m:degHide m:val="on"/>
                            <m:ctrlPr>
                              <a:rPr lang="pt-PT" b="0" i="1" smtClean="0"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func>
                              <m:funcPr>
                                <m:ctrlPr>
                                  <a:rPr lang="pt-PT" b="0" i="1" smtClean="0">
                                    <a:latin typeface="Cambria Math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pt-PT" b="0" i="1" smtClean="0">
                                        <a:latin typeface="Cambria Math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PT" b="0" i="0" smtClean="0">
                                        <a:latin typeface="Cambria Math"/>
                                      </a:rPr>
                                      <m:t>lim</m:t>
                                    </m:r>
                                  </m:e>
                                  <m:lim>
                                    <m:r>
                                      <a:rPr lang="pt-PT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pt-PT" b="0" i="1" smtClean="0">
                                        <a:latin typeface="Cambria Math"/>
                                        <a:ea typeface="Cambria Math"/>
                                      </a:rPr>
                                      <m:t>→∞</m:t>
                                    </m:r>
                                  </m:lim>
                                </m:limLow>
                              </m:fName>
                              <m:e>
                                <m:sSubSup>
                                  <m:sSubSupPr>
                                    <m:ctrlPr>
                                      <a:rPr lang="pt-PT" b="0" i="1" smtClean="0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  <a:ea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PT" i="1">
                                        <a:latin typeface="Cambria Math"/>
                                        <a:ea typeface="Cambria Math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pt-PT" b="0" i="1" smtClean="0">
                                        <a:latin typeface="Cambria Math"/>
                                        <a:ea typeface="Cambria Math"/>
                                      </a:rPr>
                                      <m:t>𝑝</m:t>
                                    </m:r>
                                  </m:sup>
                                </m:sSubSup>
                              </m:e>
                            </m:func>
                          </m:e>
                        </m:rad>
                      </m:e>
                    </m:func>
                    <m:r>
                      <a:rPr lang="pt-PT" dirty="0" smtClean="0">
                        <a:latin typeface="Cambria Math"/>
                      </a:rPr>
                      <m:t>  </m:t>
                    </m:r>
                  </m:oMath>
                </a14:m>
                <a:r>
                  <a:rPr lang="pt-PT" dirty="0" smtClean="0">
                    <a:latin typeface="Cambria Math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pt-PT" dirty="0" smtClean="0">
                        <a:latin typeface="Cambria Math"/>
                      </a:rPr>
                      <m:t>    </m:t>
                    </m:r>
                    <m:func>
                      <m:funcPr>
                        <m:ctrlPr>
                          <a:rPr lang="pt-PT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Sup>
                          <m:sSubSupPr>
                            <m:ctrlPr>
                              <a:rPr lang="pt-PT" b="0" i="1" smtClean="0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pt-PT" b="0" i="1" smtClean="0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/>
                              </a:rPr>
                              <m:t>𝑛</m:t>
                            </m:r>
                          </m:sub>
                          <m:sup>
                            <m:sSub>
                              <m:sSubPr>
                                <m:ctrlPr>
                                  <a:rPr lang="pt-PT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pt-PT" b="0" i="1" smtClean="0">
                                    <a:latin typeface="Cambria Math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pt-PT" b="0" i="1" smtClean="0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</m:sup>
                        </m:sSubSup>
                        <m:r>
                          <a:rPr lang="pt-PT" b="0" i="1" smtClean="0">
                            <a:latin typeface="Cambria Math"/>
                          </a:rPr>
                          <m:t>=</m:t>
                        </m:r>
                      </m:e>
                    </m:func>
                    <m:d>
                      <m:dPr>
                        <m:ctrlPr>
                          <a:rPr lang="pt-PT" b="0" i="1" smtClean="0">
                            <a:latin typeface="Cambria Math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t-PT" b="0" i="1" smtClean="0">
                                <a:latin typeface="Cambria Math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pt-PT" b="0" i="1" smtClean="0">
                                    <a:latin typeface="Cambria Math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pt-PT" b="0" i="0" smtClean="0">
                                    <a:latin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pt-PT" b="0" i="1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pt-PT" b="0" i="1" smtClean="0">
                                    <a:latin typeface="Cambria Math"/>
                                    <a:ea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pt-PT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pt-PT" b="0" i="1" smtClean="0">
                                    <a:latin typeface="Cambria Math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PT" b="0" i="1" smtClean="0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</m:e>
                        </m:func>
                      </m:e>
                    </m:d>
                    <m:r>
                      <a:rPr lang="pt-PT" b="0" i="1" smtClean="0">
                        <a:latin typeface="Cambria Math"/>
                      </a:rPr>
                      <m:t>^</m:t>
                    </m:r>
                    <m:func>
                      <m:funcPr>
                        <m:ctrlPr>
                          <a:rPr lang="pt-PT" b="0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b="0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b="0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pt-PT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pt-PT" b="0" i="1" smtClean="0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func>
                  </m:oMath>
                </a14:m>
                <a:r>
                  <a:rPr lang="pt-PT" dirty="0" smtClean="0"/>
                  <a:t> </a:t>
                </a:r>
              </a:p>
              <a:p>
                <a:endParaRPr lang="pt-PT" dirty="0" smtClean="0"/>
              </a:p>
              <a:p>
                <a:endParaRPr lang="pt-P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6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9317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Sucessões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pt-PT" dirty="0" smtClean="0"/>
                  <a:t>Teorema: Sejam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PT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PT" b="0" i="1" smtClean="0">
                        <a:latin typeface="Cambria Math"/>
                      </a:rPr>
                      <m:t> </m:t>
                    </m:r>
                    <m:r>
                      <a:rPr lang="pt-PT" b="0" i="1" smtClean="0">
                        <a:latin typeface="Cambria Math"/>
                      </a:rPr>
                      <m:t>𝑒</m:t>
                    </m:r>
                    <m:r>
                      <a:rPr lang="pt-PT" b="0" i="1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PT" dirty="0" smtClean="0"/>
                  <a:t> sucessões dadas tais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PT" i="1">
                        <a:latin typeface="Cambria Math"/>
                        <a:ea typeface="Cambria Math"/>
                      </a:rPr>
                      <m:t>≤</m:t>
                    </m:r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PT" i="1">
                        <a:latin typeface="Cambria Math"/>
                        <a:ea typeface="Cambria Math"/>
                      </a:rPr>
                      <m:t>≤</m:t>
                    </m:r>
                    <m:sSub>
                      <m:sSubPr>
                        <m:ctrlPr>
                          <a:rPr lang="pt-PT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PT" dirty="0" smtClean="0"/>
                  <a:t>. Então é válido: </a:t>
                </a:r>
              </a:p>
              <a:p>
                <a:pPr marL="0" indent="0">
                  <a:buNone/>
                </a:pPr>
                <a:r>
                  <a:rPr lang="pt-PT" dirty="0" smtClean="0"/>
                  <a:t>Se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PT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pt-PT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pt-PT" b="0" i="1" smtClean="0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pt-PT" b="0" i="1" smtClean="0">
                            <a:latin typeface="Cambria Math"/>
                          </a:rPr>
                          <m:t>=</m:t>
                        </m:r>
                        <m:func>
                          <m:funcPr>
                            <m:ctrlPr>
                              <a:rPr lang="pt-PT" b="0" i="1" smtClean="0">
                                <a:latin typeface="Cambria Math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pt-PT" b="0" i="1" smtClean="0">
                                    <a:latin typeface="Cambria Math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pt-PT" b="0" i="0" smtClean="0">
                                    <a:latin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pt-PT" b="0" i="1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pt-PT" b="0" i="1" smtClean="0">
                                    <a:latin typeface="Cambria Math"/>
                                    <a:ea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pt-PT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pt-PT" b="0" i="1" smtClean="0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pt-PT" b="0" i="1" smtClean="0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pt-PT" b="0" i="1" smtClean="0">
                                <a:latin typeface="Cambria Math"/>
                              </a:rPr>
                              <m:t>=</m:t>
                            </m:r>
                            <m:r>
                              <a:rPr lang="pt-PT" b="0" i="1" smtClean="0">
                                <a:latin typeface="Cambria Math"/>
                              </a:rPr>
                              <m:t>𝐿</m:t>
                            </m:r>
                          </m:e>
                        </m:func>
                      </m:e>
                    </m:func>
                  </m:oMath>
                </a14:m>
                <a:r>
                  <a:rPr lang="pt-PT" dirty="0" smtClean="0"/>
                  <a:t>, então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PT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pt-PT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pt-PT" b="0" i="1" smtClean="0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pt-PT" b="0" i="1" smtClean="0">
                            <a:latin typeface="Cambria Math"/>
                          </a:rPr>
                          <m:t>=</m:t>
                        </m:r>
                        <m:r>
                          <a:rPr lang="pt-PT" b="0" i="1" smtClean="0">
                            <a:latin typeface="Cambria Math"/>
                          </a:rPr>
                          <m:t>𝐿</m:t>
                        </m:r>
                      </m:e>
                    </m:func>
                  </m:oMath>
                </a14:m>
                <a:endParaRPr lang="pt-PT" dirty="0" smtClean="0"/>
              </a:p>
              <a:p>
                <a:pPr marL="0" indent="0">
                  <a:buNone/>
                </a:pPr>
                <a:endParaRPr lang="pt-PT" dirty="0"/>
              </a:p>
              <a:p>
                <a:pPr marL="0" indent="0">
                  <a:buNone/>
                </a:pPr>
                <a:r>
                  <a:rPr lang="pt-PT" dirty="0" smtClean="0"/>
                  <a:t>Teorema: </a:t>
                </a:r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PT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PT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pt-PT" b="0" i="1" smtClean="0">
                                    <a:latin typeface="Cambria Math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pt-PT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PT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t-PT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pt-PT" b="0" i="1" smtClean="0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  <m:r>
                          <a:rPr lang="pt-PT" b="0" i="1" smtClean="0">
                            <a:latin typeface="Cambria Math"/>
                          </a:rPr>
                          <m:t>=</m:t>
                        </m:r>
                        <m:r>
                          <a:rPr lang="pt-PT" b="0" i="1" smtClean="0">
                            <a:latin typeface="Cambria Math"/>
                          </a:rPr>
                          <m:t>𝑒</m:t>
                        </m:r>
                        <m:r>
                          <a:rPr lang="pt-PT" b="0" i="1" smtClean="0">
                            <a:latin typeface="Cambria Math"/>
                          </a:rPr>
                          <m:t>=2,718281828…</m:t>
                        </m:r>
                      </m:e>
                    </m:func>
                  </m:oMath>
                </a14:m>
                <a:endParaRPr lang="pt-PT" dirty="0" smtClean="0"/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PT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ad>
                          <m:rad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radPr>
                          <m:deg>
                            <m:r>
                              <m:rPr>
                                <m:brk m:alnAt="7"/>
                              </m:rPr>
                              <a:rPr lang="pt-PT" b="0" i="1" smtClean="0">
                                <a:latin typeface="Cambria Math"/>
                              </a:rPr>
                              <m:t>𝑛</m:t>
                            </m:r>
                          </m:deg>
                          <m:e>
                            <m:r>
                              <a:rPr lang="pt-PT" b="0" i="1" smtClean="0">
                                <a:latin typeface="Cambria Math"/>
                              </a:rPr>
                              <m:t>𝑛</m:t>
                            </m:r>
                          </m:e>
                        </m:rad>
                        <m:r>
                          <a:rPr lang="pt-PT" b="0" i="1" smtClean="0">
                            <a:latin typeface="Cambria Math"/>
                          </a:rPr>
                          <m:t>=1</m:t>
                        </m:r>
                      </m:e>
                    </m:func>
                  </m:oMath>
                </a14:m>
                <a:endParaRPr lang="pt-PT" dirty="0" smtClean="0"/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PT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pt-PT" b="0" i="1" smtClean="0">
                                <a:latin typeface="Cambria Math"/>
                              </a:rPr>
                              <m:t>𝑙𝑛</m:t>
                            </m:r>
                            <m:d>
                              <m:dPr>
                                <m:ctrlPr>
                                  <a:rPr lang="pt-PT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pt-PT" b="0" i="1" smtClean="0">
                                    <a:latin typeface="Cambria Math"/>
                                  </a:rPr>
                                  <m:t>1+</m:t>
                                </m:r>
                                <m:r>
                                  <a:rPr lang="pt-PT" b="0" i="1" smtClean="0">
                                    <a:latin typeface="Cambria Math"/>
                                  </a:rPr>
                                  <m:t>𝑛</m:t>
                                </m:r>
                              </m:e>
                            </m:d>
                          </m:num>
                          <m:den>
                            <m:r>
                              <a:rPr lang="pt-PT" b="0" i="1" smtClean="0">
                                <a:latin typeface="Cambria Math"/>
                              </a:rPr>
                              <m:t>𝑛</m:t>
                            </m:r>
                          </m:den>
                        </m:f>
                        <m:r>
                          <a:rPr lang="pt-PT" b="0" i="1" smtClean="0">
                            <a:latin typeface="Cambria Math"/>
                          </a:rPr>
                          <m:t>=1</m:t>
                        </m:r>
                      </m:e>
                    </m:func>
                  </m:oMath>
                </a14:m>
                <a:endParaRPr lang="pt-P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362" t="-21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9287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Sucessões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pt-PT" dirty="0" smtClean="0"/>
                  <a:t>Indeterminações</a:t>
                </a:r>
              </a:p>
              <a:p>
                <a:pPr marL="0" indent="0">
                  <a:buNone/>
                </a:pPr>
                <a:r>
                  <a:rPr lang="pt-PT" dirty="0" smtClean="0"/>
                  <a:t>Aplicando regras de cálculo de limites pode ocorrer o que chamamos de indeterminações que devem ser levantadas.</a:t>
                </a:r>
              </a:p>
              <a:p>
                <a:pPr marL="0" indent="0">
                  <a:buNone/>
                </a:pPr>
                <a:r>
                  <a:rPr lang="pt-PT" dirty="0" smtClean="0"/>
                  <a:t>Tipos de indeterminações: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pt-PT" b="0" i="1" smtClean="0">
                              <a:latin typeface="Cambria Math"/>
                            </a:rPr>
                            <m:t>0</m:t>
                          </m:r>
                        </m:num>
                        <m:den>
                          <m:r>
                            <a:rPr lang="pt-PT" b="0" i="1" smtClean="0">
                              <a:latin typeface="Cambria Math"/>
                            </a:rPr>
                            <m:t>0</m:t>
                          </m:r>
                        </m:den>
                      </m:f>
                      <m:r>
                        <a:rPr lang="pt-PT" b="0" i="1" smtClean="0">
                          <a:latin typeface="Cambria Math"/>
                        </a:rPr>
                        <m:t>, </m:t>
                      </m:r>
                      <m:sSup>
                        <m:sSupPr>
                          <m:ctrlPr>
                            <a:rPr lang="pt-PT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pt-PT" b="0" i="1" smtClean="0">
                              <a:latin typeface="Cambria Math"/>
                            </a:rPr>
                            <m:t>0</m:t>
                          </m:r>
                        </m:e>
                        <m:sup>
                          <m:r>
                            <a:rPr lang="pt-PT" b="0" i="1" smtClean="0"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a:rPr lang="pt-PT" b="0" i="1" smtClean="0">
                          <a:latin typeface="Cambria Math"/>
                        </a:rPr>
                        <m:t>, 0</m:t>
                      </m:r>
                      <m:r>
                        <a:rPr lang="pt-PT" b="0" i="1" smtClean="0">
                          <a:latin typeface="Cambria Math"/>
                          <a:ea typeface="Cambria Math"/>
                        </a:rPr>
                        <m:t>∙∞, </m:t>
                      </m:r>
                      <m:sSup>
                        <m:sSupPr>
                          <m:ctrlPr>
                            <a:rPr lang="pt-PT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pt-PT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e>
                        <m:sup>
                          <m:r>
                            <a:rPr lang="pt-PT" b="0" i="1" smtClean="0">
                              <a:latin typeface="Cambria Math"/>
                              <a:ea typeface="Cambria Math"/>
                            </a:rPr>
                            <m:t>0</m:t>
                          </m:r>
                        </m:sup>
                      </m:sSup>
                      <m:r>
                        <a:rPr lang="pt-PT" b="0" i="1" smtClean="0">
                          <a:latin typeface="Cambria Math"/>
                          <a:ea typeface="Cambria Math"/>
                        </a:rPr>
                        <m:t>, ∞−∞, </m:t>
                      </m:r>
                      <m:sSup>
                        <m:sSupPr>
                          <m:ctrlPr>
                            <a:rPr lang="pt-PT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pt-PT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e>
                        <m:sup>
                          <m:r>
                            <a:rPr lang="pt-PT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</m:sSup>
                    </m:oMath>
                  </m:oMathPara>
                </a14:m>
                <a:endParaRPr lang="pt-P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362" t="-1200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1217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Sucessões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pt-PT" dirty="0" smtClean="0"/>
                  <a:t>Exemplo: Calcule o limite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PT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PT" b="0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pt-PT" b="0" i="1" smtClean="0">
                                    <a:latin typeface="Cambria Math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pt-PT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pt-PT" b="0" i="1" smtClean="0">
                                <a:latin typeface="Cambria Math"/>
                              </a:rPr>
                              <m:t>−1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pt-PT" b="0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pt-PT" b="0" i="1" smtClean="0">
                                    <a:latin typeface="Cambria Math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pt-PT" b="0" i="1" smtClean="0">
                                    <a:latin typeface="Cambria Math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pt-PT" b="0" i="1" smtClean="0">
                                <a:latin typeface="Cambria Math"/>
                              </a:rPr>
                              <m:t>+3</m:t>
                            </m:r>
                          </m:den>
                        </m:f>
                      </m:e>
                    </m:func>
                  </m:oMath>
                </a14:m>
                <a:endParaRPr lang="pt-PT" dirty="0" smtClean="0"/>
              </a:p>
              <a:p>
                <a:pPr marL="0" indent="0">
                  <a:buNone/>
                </a:pPr>
                <a:r>
                  <a:rPr lang="pt-PT" dirty="0" smtClean="0"/>
                  <a:t>Solução: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𝑛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t-PT" i="1">
                                <a:latin typeface="Cambria Math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pt-PT" i="1">
                                    <a:latin typeface="Cambria Math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pt-PT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pt-PT" i="1">
                                <a:latin typeface="Cambria Math"/>
                              </a:rPr>
                              <m:t>−1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pt-PT" i="1">
                                    <a:latin typeface="Cambria Math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pt-PT" i="1">
                                    <a:latin typeface="Cambria Math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pt-PT" i="1">
                                <a:latin typeface="Cambria Math"/>
                              </a:rPr>
                              <m:t>+3</m:t>
                            </m:r>
                          </m:den>
                        </m:f>
                      </m:e>
                    </m:func>
                    <m:r>
                      <a:rPr lang="pt-PT" b="0" i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PT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pt-PT" b="0" i="1" smtClean="0">
                            <a:latin typeface="Cambria Math"/>
                            <a:ea typeface="Cambria Math"/>
                          </a:rPr>
                          <m:t>∞</m:t>
                        </m:r>
                      </m:num>
                      <m:den>
                        <m:r>
                          <a:rPr lang="pt-PT" b="0" i="1" smtClean="0">
                            <a:latin typeface="Cambria Math"/>
                            <a:ea typeface="Cambria Math"/>
                          </a:rPr>
                          <m:t>∞</m:t>
                        </m:r>
                      </m:den>
                    </m:f>
                  </m:oMath>
                </a14:m>
                <a:r>
                  <a:rPr lang="pt-PT" dirty="0" smtClean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PT" i="1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PT" i="1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PT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pt-PT" i="1">
                                  <a:latin typeface="Cambria Math"/>
                                  <a:ea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PT" i="1">
                                  <a:latin typeface="Cambria Math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PT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pt-PT" i="1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pt-PT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PT" i="1">
                                  <a:latin typeface="Cambria Math"/>
                                </a:rPr>
                                <m:t>−1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t-PT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pt-PT" i="1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pt-PT" i="1">
                                      <a:latin typeface="Cambria Math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pt-PT" i="1">
                                  <a:latin typeface="Cambria Math"/>
                                </a:rPr>
                                <m:t>+3</m:t>
                              </m:r>
                            </m:den>
                          </m:f>
                        </m:e>
                      </m:func>
                      <m:r>
                        <a:rPr lang="pt-PT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pt-PT" i="1" smtClean="0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PT" i="1" smtClean="0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 i="0" smtClean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PT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PT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PT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pt-PT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pt-PT" b="0" i="1" smtClean="0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PT" b="0" i="1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pt-PT" b="0" i="1" smtClean="0"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PT" b="0" i="1" smtClean="0">
                                              <a:latin typeface="Cambria Math"/>
                                            </a:rPr>
                                            <m:t>𝑛</m:t>
                                          </m:r>
                                        </m:e>
                                        <m:sup>
                                          <m:r>
                                            <a:rPr lang="pt-PT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pt-PT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4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pt-PT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pt-PT" b="0" i="1" smtClean="0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PT" b="0" i="1" smtClean="0">
                                          <a:latin typeface="Cambria Math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pt-PT" b="0" i="1" smtClean="0"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PT" b="0" i="1" smtClean="0">
                                              <a:latin typeface="Cambria Math"/>
                                            </a:rPr>
                                            <m:t>𝑛</m:t>
                                          </m:r>
                                        </m:e>
                                        <m:sup>
                                          <m:r>
                                            <a:rPr lang="pt-PT" b="0" i="1" smtClean="0">
                                              <a:latin typeface="Cambria Math"/>
                                            </a:rPr>
                                            <m:t>4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den>
                          </m:f>
                        </m:e>
                      </m:func>
                      <m:r>
                        <a:rPr lang="pt-PT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pt-PT" i="1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PT" i="1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PT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pt-PT" i="1">
                                  <a:latin typeface="Cambria Math"/>
                                  <a:ea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PT" i="1">
                                  <a:latin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pt-PT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PT" i="1">
                                      <a:latin typeface="Cambria Math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pt-PT" i="1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pt-PT" i="1"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PT" i="1">
                                              <a:latin typeface="Cambria Math"/>
                                            </a:rPr>
                                            <m:t>𝑛</m:t>
                                          </m:r>
                                        </m:e>
                                        <m:sup>
                                          <m:r>
                                            <a:rPr lang="pt-PT" i="1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pt-PT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pt-PT" i="1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pt-PT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PT" i="1">
                                      <a:latin typeface="Cambria Math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pt-PT" i="1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pt-PT" i="1"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PT" i="1">
                                              <a:latin typeface="Cambria Math"/>
                                            </a:rPr>
                                            <m:t>𝑛</m:t>
                                          </m:r>
                                        </m:e>
                                        <m:sup>
                                          <m:r>
                                            <a:rPr lang="pt-PT" i="1">
                                              <a:latin typeface="Cambria Math"/>
                                            </a:rPr>
                                            <m:t>4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den>
                          </m:f>
                        </m:e>
                      </m:func>
                    </m:oMath>
                  </m:oMathPara>
                </a14:m>
                <a:endParaRPr lang="pt-PT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PT" i="1" smtClean="0">
                              <a:latin typeface="Cambria Math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pt-PT" i="1" smtClean="0">
                                  <a:latin typeface="Cambria Math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pt-PT" i="1" smtClean="0">
                                      <a:latin typeface="Cambria Math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PT" i="0" smtClean="0">
                                      <a:latin typeface="Cambria Math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pt-PT" b="0" i="1" smtClean="0">
                                      <a:latin typeface="Cambria Math"/>
                                      <a:ea typeface="Cambria Math"/>
                                    </a:rPr>
                                    <m:t>→∞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pt-PT" b="0" i="1" smtClean="0">
                                  <a:latin typeface="Cambria Math"/>
                                </a:rPr>
                                <m:t>1−</m:t>
                              </m:r>
                              <m:func>
                                <m:funcPr>
                                  <m:ctrlPr>
                                    <a:rPr lang="pt-PT" b="0" i="1" smtClean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pt-PT" b="0" i="1" smtClean="0">
                                          <a:latin typeface="Cambria Math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pt-PT" b="0" i="0" smtClean="0">
                                          <a:latin typeface="Cambria Math"/>
                                        </a:rPr>
                                        <m:t>lim</m:t>
                                      </m:r>
                                    </m:e>
                                    <m:lim>
                                      <m:r>
                                        <a:rPr lang="pt-PT" b="0" i="1" smtClean="0">
                                          <a:latin typeface="Cambria Math"/>
                                        </a:rPr>
                                        <m:t>𝑛</m:t>
                                      </m:r>
                                      <m:r>
                                        <a:rPr lang="pt-PT" b="0" i="1" smtClean="0">
                                          <a:latin typeface="Cambria Math"/>
                                          <a:ea typeface="Cambria Math"/>
                                        </a:rPr>
                                        <m:t>→∞</m:t>
                                      </m:r>
                                    </m:lim>
                                  </m:limLow>
                                </m:fName>
                                <m:e>
                                  <m:f>
                                    <m:fPr>
                                      <m:ctrlPr>
                                        <a:rPr lang="pt-PT" b="0" i="1" smtClean="0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PT" b="0" i="1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pt-PT" b="0" i="1" smtClean="0"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PT" b="0" i="1" smtClean="0">
                                              <a:latin typeface="Cambria Math"/>
                                            </a:rPr>
                                            <m:t>𝑛</m:t>
                                          </m:r>
                                        </m:e>
                                        <m:sup>
                                          <m:r>
                                            <a:rPr lang="pt-PT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func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pt-PT" i="1" smtClean="0">
                                  <a:latin typeface="Cambria Math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pt-PT" i="1" smtClean="0">
                                      <a:latin typeface="Cambria Math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PT" i="0" smtClean="0">
                                      <a:latin typeface="Cambria Math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pt-PT" b="0" i="1" smtClean="0">
                                      <a:latin typeface="Cambria Math"/>
                                      <a:ea typeface="Cambria Math"/>
                                    </a:rPr>
                                    <m:t>→∞</m:t>
                                  </m:r>
                                </m:lim>
                              </m:limLow>
                            </m:fName>
                            <m:e>
                              <m:sSup>
                                <m:sSupPr>
                                  <m:ctrlPr>
                                    <a:rPr lang="pt-PT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pt-PT" i="1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pt-PT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func>
                                <m:funcPr>
                                  <m:ctrlPr>
                                    <a:rPr lang="pt-PT" i="1" smtClean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a:rPr lang="pt-PT" i="1" smtClean="0">
                                      <a:latin typeface="Cambria Math"/>
                                      <a:ea typeface="Cambria Math"/>
                                    </a:rPr>
                                    <m:t>∙</m:t>
                                  </m:r>
                                  <m:limLow>
                                    <m:limLowPr>
                                      <m:ctrlPr>
                                        <a:rPr lang="pt-PT" i="1" smtClean="0">
                                          <a:latin typeface="Cambria Math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pt-PT" i="0" smtClean="0">
                                          <a:latin typeface="Cambria Math"/>
                                        </a:rPr>
                                        <m:t>lim</m:t>
                                      </m:r>
                                    </m:e>
                                    <m:lim>
                                      <m:r>
                                        <a:rPr lang="pt-PT" b="0" i="1" smtClean="0">
                                          <a:latin typeface="Cambria Math"/>
                                        </a:rPr>
                                        <m:t>𝑛</m:t>
                                      </m:r>
                                      <m:r>
                                        <a:rPr lang="pt-PT" b="0" i="1" smtClean="0">
                                          <a:latin typeface="Cambria Math"/>
                                          <a:ea typeface="Cambria Math"/>
                                        </a:rPr>
                                        <m:t>→∞</m:t>
                                      </m:r>
                                    </m:lim>
                                  </m:limLow>
                                </m:fName>
                                <m:e>
                                  <m:d>
                                    <m:dPr>
                                      <m:ctrlPr>
                                        <a:rPr lang="pt-PT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1−</m:t>
                                      </m:r>
                                      <m:f>
                                        <m:fPr>
                                          <m:ctrlPr>
                                            <a:rPr lang="pt-PT" i="1">
                                              <a:latin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pt-PT" i="1">
                                              <a:latin typeface="Cambria Math"/>
                                            </a:rPr>
                                            <m:t>3</m:t>
                                          </m:r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pt-PT" i="1">
                                                  <a:latin typeface="Cambria Math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pt-PT" i="1">
                                                  <a:latin typeface="Cambria Math"/>
                                                </a:rPr>
                                                <m:t>𝑛</m:t>
                                              </m:r>
                                            </m:e>
                                            <m:sup>
                                              <m:r>
                                                <a:rPr lang="pt-PT" i="1">
                                                  <a:latin typeface="Cambria Math"/>
                                                </a:rPr>
                                                <m:t>4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func>
                        </m:den>
                      </m:f>
                      <m:r>
                        <a:rPr lang="pt-PT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PT" i="1">
                              <a:latin typeface="Cambria Math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pt-PT" i="1">
                                  <a:latin typeface="Cambria Math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pt-PT" i="1">
                                      <a:latin typeface="Cambria Math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PT">
                                      <a:latin typeface="Cambria Math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pt-PT" i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pt-PT" i="1">
                                      <a:latin typeface="Cambria Math"/>
                                      <a:ea typeface="Cambria Math"/>
                                    </a:rPr>
                                    <m:t>→∞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pt-PT" i="1">
                                  <a:latin typeface="Cambria Math"/>
                                </a:rPr>
                                <m:t>1−</m:t>
                              </m:r>
                              <m:func>
                                <m:funcPr>
                                  <m:ctrlPr>
                                    <a:rPr lang="pt-PT" i="1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pt-PT" i="1">
                                          <a:latin typeface="Cambria Math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pt-PT">
                                          <a:latin typeface="Cambria Math"/>
                                        </a:rPr>
                                        <m:t>lim</m:t>
                                      </m:r>
                                    </m:e>
                                    <m:lim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𝑛</m:t>
                                      </m:r>
                                      <m:r>
                                        <a:rPr lang="pt-PT" i="1">
                                          <a:latin typeface="Cambria Math"/>
                                          <a:ea typeface="Cambria Math"/>
                                        </a:rPr>
                                        <m:t>→∞</m:t>
                                      </m:r>
                                    </m:lim>
                                  </m:limLow>
                                </m:fName>
                                <m:e>
                                  <m:f>
                                    <m:fPr>
                                      <m:ctrlPr>
                                        <a:rPr lang="pt-PT" i="1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pt-PT" i="1"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PT" i="1">
                                              <a:latin typeface="Cambria Math"/>
                                            </a:rPr>
                                            <m:t>𝑛</m:t>
                                          </m:r>
                                        </m:e>
                                        <m:sup>
                                          <m:r>
                                            <a:rPr lang="pt-PT" i="1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func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pt-PT" i="1">
                                  <a:latin typeface="Cambria Math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pt-PT" i="1">
                                      <a:latin typeface="Cambria Math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PT">
                                      <a:latin typeface="Cambria Math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pt-PT" i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pt-PT" i="1">
                                      <a:latin typeface="Cambria Math"/>
                                      <a:ea typeface="Cambria Math"/>
                                    </a:rPr>
                                    <m:t>→∞</m:t>
                                  </m:r>
                                </m:lim>
                              </m:limLow>
                            </m:fName>
                            <m:e>
                              <m:sSup>
                                <m:sSupPr>
                                  <m:ctrlPr>
                                    <a:rPr lang="pt-PT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pt-PT" i="1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pt-PT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PT" i="1" smtClean="0">
                                  <a:latin typeface="Cambria Math"/>
                                  <a:ea typeface="Cambria Math"/>
                                </a:rPr>
                                <m:t>∙</m:t>
                              </m:r>
                              <m:d>
                                <m:dPr>
                                  <m:ctrlPr>
                                    <a:rPr lang="pt-PT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pt-PT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funcPr>
                                    <m:fName>
                                      <m:limLow>
                                        <m:limLowPr>
                                          <m:ctrlPr>
                                            <a:rPr lang="pt-PT" i="1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limLow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pt-PT">
                                              <a:latin typeface="Cambria Math"/>
                                              <a:ea typeface="Cambria Math"/>
                                            </a:rPr>
                                            <m:t>lim</m:t>
                                          </m:r>
                                        </m:e>
                                        <m:lim>
                                          <m:r>
                                            <a:rPr lang="pt-PT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𝑛</m:t>
                                          </m:r>
                                          <m:r>
                                            <a:rPr lang="pt-PT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→∞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r>
                                        <a:rPr lang="pt-PT" i="1">
                                          <a:latin typeface="Cambria Math"/>
                                          <a:ea typeface="Cambria Math"/>
                                        </a:rPr>
                                        <m:t>1</m:t>
                                      </m:r>
                                      <m:r>
                                        <a:rPr lang="pt-PT" b="0" i="1" smtClean="0">
                                          <a:latin typeface="Cambria Math"/>
                                          <a:ea typeface="Cambria Math"/>
                                        </a:rPr>
                                        <m:t>+</m:t>
                                      </m:r>
                                      <m:func>
                                        <m:funcPr>
                                          <m:ctrlPr>
                                            <a:rPr lang="pt-PT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funcPr>
                                        <m:fName>
                                          <m:limLow>
                                            <m:limLowPr>
                                              <m:ctrlPr>
                                                <a:rPr lang="pt-PT" b="0" i="1" smtClean="0">
                                                  <a:latin typeface="Cambria Math"/>
                                                  <a:ea typeface="Cambria Math"/>
                                                </a:rPr>
                                              </m:ctrlPr>
                                            </m:limLow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pt-PT" b="0" i="0" smtClean="0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lim</m:t>
                                              </m:r>
                                            </m:e>
                                            <m:lim>
                                              <m:r>
                                                <a:rPr lang="pt-PT" b="0" i="1" smtClean="0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pt-PT" b="0" i="1" smtClean="0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→∞</m:t>
                                              </m:r>
                                            </m:lim>
                                          </m:limLow>
                                        </m:fName>
                                        <m:e>
                                          <m:f>
                                            <m:fPr>
                                              <m:ctrlPr>
                                                <a:rPr lang="pt-PT" b="0" i="1" smtClean="0">
                                                  <a:latin typeface="Cambria Math"/>
                                                  <a:ea typeface="Cambria Math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pt-PT" b="0" i="1" smtClean="0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3</m:t>
                                              </m:r>
                                            </m:num>
                                            <m:den>
                                              <m:sSup>
                                                <m:sSupPr>
                                                  <m:ctrlPr>
                                                    <a:rPr lang="pt-PT" b="0" i="1" smtClean="0">
                                                      <a:latin typeface="Cambria Math"/>
                                                      <a:ea typeface="Cambria Math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pt-PT" b="0" i="1" smtClean="0">
                                                      <a:latin typeface="Cambria Math"/>
                                                      <a:ea typeface="Cambria Math"/>
                                                    </a:rPr>
                                                    <m:t>𝑛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pt-PT" b="0" i="1" smtClean="0">
                                                      <a:latin typeface="Cambria Math"/>
                                                      <a:ea typeface="Cambria Math"/>
                                                    </a:rPr>
                                                    <m:t>4</m:t>
                                                  </m:r>
                                                </m:sup>
                                              </m:sSup>
                                            </m:den>
                                          </m:f>
                                        </m:e>
                                      </m:func>
                                    </m:e>
                                  </m:func>
                                </m:e>
                              </m:d>
                            </m:e>
                          </m:func>
                        </m:den>
                      </m:f>
                      <m:r>
                        <a:rPr lang="pt-PT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PT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pt-PT" b="0" i="1" smtClean="0">
                              <a:latin typeface="Cambria Math"/>
                            </a:rPr>
                            <m:t>1−0</m:t>
                          </m:r>
                        </m:num>
                        <m:den>
                          <m:r>
                            <a:rPr lang="pt-PT" i="1">
                              <a:latin typeface="Cambria Math"/>
                              <a:ea typeface="Cambria Math"/>
                            </a:rPr>
                            <m:t>∞</m:t>
                          </m:r>
                          <m:d>
                            <m:dPr>
                              <m:ctrlPr>
                                <a:rPr lang="pt-PT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1+0</m:t>
                              </m:r>
                            </m:e>
                          </m:d>
                        </m:den>
                      </m:f>
                      <m:r>
                        <a:rPr lang="pt-PT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PT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pt-PT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pt-PT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den>
                      </m:f>
                      <m:r>
                        <a:rPr lang="pt-PT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pt-PT" dirty="0"/>
              </a:p>
              <a:p>
                <a:pPr marL="0" indent="0">
                  <a:buNone/>
                </a:pPr>
                <a:endParaRPr lang="pt-PT" dirty="0"/>
              </a:p>
              <a:p>
                <a:pPr marL="0" indent="0">
                  <a:buNone/>
                </a:pPr>
                <a:endParaRPr lang="pt-PT" dirty="0"/>
              </a:p>
              <a:p>
                <a:pPr marL="0" indent="0">
                  <a:buNone/>
                </a:pPr>
                <a:endParaRPr lang="pt-PT" dirty="0" smtClean="0"/>
              </a:p>
              <a:p>
                <a:pPr marL="0" indent="0">
                  <a:buNone/>
                </a:pPr>
                <a:endParaRPr lang="pt-PT" dirty="0" smtClean="0"/>
              </a:p>
              <a:p>
                <a:pPr marL="0" indent="0">
                  <a:buNone/>
                </a:pPr>
                <a:endParaRPr lang="pt-PT" dirty="0"/>
              </a:p>
              <a:p>
                <a:pPr marL="0" indent="0">
                  <a:buNone/>
                </a:pPr>
                <a:endParaRPr lang="pt-P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860" t="-2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6591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Sucessões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pt-PT" dirty="0" smtClean="0"/>
                  <a:t>Exemplo:</a:t>
                </a:r>
                <a:r>
                  <a:rPr lang="pt-PT" dirty="0"/>
                  <a:t> </a:t>
                </a:r>
                <a:r>
                  <a:rPr lang="pt-PT" dirty="0" smtClean="0"/>
                  <a:t>Ache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PT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pt-PT" i="1" smtClean="0">
                                    <a:latin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pt-PT" b="0" i="1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pt-PT" b="0" i="1" smtClean="0">
                                    <a:latin typeface="Cambria Math"/>
                                  </a:rPr>
                                  <m:t>+1</m:t>
                                </m:r>
                              </m:e>
                            </m:rad>
                            <m:r>
                              <a:rPr lang="pt-PT" b="0" i="1" smtClean="0">
                                <a:latin typeface="Cambria Math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pt-PT" b="0" i="1" smtClean="0">
                                    <a:latin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pt-PT" b="0" i="1" smtClean="0">
                                    <a:latin typeface="Cambria Math"/>
                                  </a:rPr>
                                  <m:t>𝑛</m:t>
                                </m:r>
                              </m:e>
                            </m:rad>
                          </m:e>
                        </m:d>
                      </m:e>
                    </m:func>
                  </m:oMath>
                </a14:m>
                <a:endParaRPr lang="pt-PT" dirty="0" smtClean="0"/>
              </a:p>
              <a:p>
                <a:pPr marL="0" indent="0">
                  <a:buNone/>
                </a:pPr>
                <a:r>
                  <a:rPr lang="pt-PT" dirty="0" smtClean="0"/>
                  <a:t>Solução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𝑛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pt-PT" i="1">
                                <a:latin typeface="Cambria Math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pt-PT" i="1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pt-PT" i="1">
                                    <a:latin typeface="Cambria Math"/>
                                  </a:rPr>
                                  <m:t>+1</m:t>
                                </m:r>
                              </m:e>
                            </m:rad>
                            <m:r>
                              <a:rPr lang="pt-PT" i="1">
                                <a:latin typeface="Cambria Math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pt-PT" i="1">
                                    <a:latin typeface="Cambria Math"/>
                                  </a:rPr>
                                  <m:t>𝑛</m:t>
                                </m:r>
                              </m:e>
                            </m:rad>
                          </m:e>
                        </m:d>
                      </m:e>
                    </m:func>
                    <m:r>
                      <a:rPr lang="pt-PT" b="0" i="1" smtClean="0">
                        <a:latin typeface="Cambria Math"/>
                      </a:rPr>
                      <m:t>=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∞−∞</m:t>
                    </m:r>
                  </m:oMath>
                </a14:m>
                <a:r>
                  <a:rPr lang="pt-PT" dirty="0" smtClean="0"/>
                  <a:t> </a:t>
                </a:r>
              </a:p>
              <a:p>
                <a:pPr marL="0" indent="0">
                  <a:buNone/>
                </a:pPr>
                <a:r>
                  <a:rPr lang="pt-PT" dirty="0" smtClean="0"/>
                  <a:t>Neste caso vamos multiplicar pelo conjugado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PT" i="1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PT" i="1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PT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pt-PT" i="1">
                                  <a:latin typeface="Cambria Math"/>
                                  <a:ea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pt-PT" i="1">
                                  <a:latin typeface="Cambria Math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pt-PT" i="1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pt-PT" i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pt-PT" i="1">
                                      <a:latin typeface="Cambria Math"/>
                                    </a:rPr>
                                    <m:t>+1</m:t>
                                  </m:r>
                                </m:e>
                              </m:rad>
                              <m:r>
                                <a:rPr lang="pt-PT" i="1">
                                  <a:latin typeface="Cambria Math"/>
                                </a:rPr>
                                <m:t>−</m:t>
                              </m:r>
                              <m:rad>
                                <m:radPr>
                                  <m:degHide m:val="on"/>
                                  <m:ctrlPr>
                                    <a:rPr lang="pt-PT" i="1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pt-PT" i="1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rad>
                            </m:e>
                          </m:d>
                        </m:e>
                      </m:func>
                      <m:r>
                        <a:rPr lang="pt-PT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pt-PT" i="1" smtClean="0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PT" i="1" smtClean="0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 i="0" smtClean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PT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PT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pt-PT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pt-PT" i="1">
                                          <a:latin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𝑛</m:t>
                                      </m:r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+1</m:t>
                                      </m:r>
                                    </m:e>
                                  </m:rad>
                                  <m:r>
                                    <a:rPr lang="pt-PT" i="1">
                                      <a:latin typeface="Cambria Math"/>
                                    </a:rPr>
                                    <m:t>−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pt-PT" i="1">
                                          <a:latin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𝑛</m:t>
                                      </m:r>
                                    </m:e>
                                  </m:rad>
                                </m:e>
                              </m:d>
                              <m:d>
                                <m:dPr>
                                  <m:ctrlPr>
                                    <a:rPr lang="pt-PT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pt-PT" i="1">
                                          <a:latin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𝑛</m:t>
                                      </m:r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+1</m:t>
                                      </m:r>
                                    </m:e>
                                  </m:rad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+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pt-PT" i="1">
                                          <a:latin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𝑛</m:t>
                                      </m:r>
                                    </m:e>
                                  </m:rad>
                                </m:e>
                              </m:d>
                            </m:num>
                            <m:den>
                              <m:d>
                                <m:dPr>
                                  <m:ctrlPr>
                                    <a:rPr lang="pt-PT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pt-PT" i="1">
                                          <a:latin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𝑛</m:t>
                                      </m:r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+1</m:t>
                                      </m:r>
                                    </m:e>
                                  </m:rad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+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pt-PT" i="1">
                                          <a:latin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𝑛</m:t>
                                      </m:r>
                                    </m:e>
                                  </m:rad>
                                </m:e>
                              </m:d>
                            </m:den>
                          </m:f>
                        </m:e>
                      </m:func>
                      <m:r>
                        <a:rPr lang="pt-PT" b="0" i="0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pt-PT" b="0" i="1" smtClean="0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PT" b="0" i="1" smtClean="0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 b="0" i="0" smtClean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PT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PT" i="1">
                                  <a:latin typeface="Cambria Math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PT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pt-PT" i="1">
                                          <a:latin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𝑛</m:t>
                                      </m:r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+1</m:t>
                                      </m:r>
                                    </m:e>
                                  </m:rad>
                                </m:e>
                                <m:sup>
                                  <m:r>
                                    <a:rPr lang="pt-PT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PT" i="1">
                                  <a:latin typeface="Cambria Math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pt-PT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pt-PT" i="1">
                                          <a:latin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𝑛</m:t>
                                      </m:r>
                                    </m:e>
                                  </m:rad>
                                </m:e>
                                <m:sup>
                                  <m:r>
                                    <a:rPr lang="pt-PT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ctrlPr>
                                    <a:rPr lang="pt-PT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pt-PT" i="1">
                                          <a:latin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𝑛</m:t>
                                      </m:r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+1</m:t>
                                      </m:r>
                                    </m:e>
                                  </m:rad>
                                  <m:r>
                                    <a:rPr lang="pt-PT" i="1">
                                      <a:latin typeface="Cambria Math"/>
                                    </a:rPr>
                                    <m:t>+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pt-PT" i="1">
                                          <a:latin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𝑛</m:t>
                                      </m:r>
                                    </m:e>
                                  </m:rad>
                                </m:e>
                              </m:d>
                            </m:den>
                          </m:f>
                        </m:e>
                      </m:func>
                      <m:func>
                        <m:funcPr>
                          <m:ctrlPr>
                            <a:rPr lang="pt-PT" i="1">
                              <a:latin typeface="Cambria Math"/>
                            </a:rPr>
                          </m:ctrlPr>
                        </m:funcPr>
                        <m:fName>
                          <m:r>
                            <a:rPr lang="pt-PT" b="0" i="1" smtClean="0">
                              <a:latin typeface="Cambria Math"/>
                            </a:rPr>
                            <m:t>=</m:t>
                          </m:r>
                          <m:limLow>
                            <m:limLowPr>
                              <m:ctrlPr>
                                <a:rPr lang="pt-PT" i="1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PT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pt-PT" i="1">
                                  <a:latin typeface="Cambria Math"/>
                                  <a:ea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PT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pt-PT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pt-PT" b="0" i="1" smtClean="0">
                                  <a:latin typeface="Cambria Math"/>
                                </a:rPr>
                                <m:t>+1−</m:t>
                              </m:r>
                              <m:r>
                                <a:rPr lang="pt-PT" b="0" i="1" smtClean="0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pt-PT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pt-PT" i="1">
                                          <a:latin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𝑛</m:t>
                                      </m:r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+1</m:t>
                                      </m:r>
                                    </m:e>
                                  </m:rad>
                                  <m:r>
                                    <a:rPr lang="pt-PT" i="1">
                                      <a:latin typeface="Cambria Math"/>
                                    </a:rPr>
                                    <m:t>+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pt-PT" i="1">
                                          <a:latin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𝑛</m:t>
                                      </m:r>
                                    </m:e>
                                  </m:rad>
                                </m:e>
                              </m:d>
                            </m:den>
                          </m:f>
                        </m:e>
                      </m:func>
                      <m:r>
                        <a:rPr lang="pt-PT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pt-PT" i="1">
                              <a:latin typeface="Cambria Math"/>
                            </a:rPr>
                          </m:ctrlPr>
                        </m:funcPr>
                        <m:fName>
                          <m:r>
                            <a:rPr lang="pt-PT" b="0" i="1" smtClean="0">
                              <a:latin typeface="Cambria Math"/>
                            </a:rPr>
                            <m:t> </m:t>
                          </m:r>
                          <m:limLow>
                            <m:limLowPr>
                              <m:ctrlPr>
                                <a:rPr lang="pt-PT" i="1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PT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pt-PT" i="1">
                                  <a:latin typeface="Cambria Math"/>
                                  <a:ea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PT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pt-PT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pt-PT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pt-PT" i="1">
                                          <a:latin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𝑛</m:t>
                                      </m:r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+1</m:t>
                                      </m:r>
                                    </m:e>
                                  </m:rad>
                                  <m:r>
                                    <a:rPr lang="pt-PT" i="1">
                                      <a:latin typeface="Cambria Math"/>
                                    </a:rPr>
                                    <m:t>+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pt-PT" i="1">
                                          <a:latin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𝑛</m:t>
                                      </m:r>
                                    </m:e>
                                  </m:rad>
                                </m:e>
                              </m:d>
                            </m:den>
                          </m:f>
                        </m:e>
                      </m:func>
                      <m:r>
                        <a:rPr lang="pt-PT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PT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pt-PT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pt-PT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den>
                      </m:f>
                      <m:r>
                        <a:rPr lang="pt-PT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pt-PT" dirty="0"/>
              </a:p>
              <a:p>
                <a:pPr marL="0" indent="0">
                  <a:buNone/>
                </a:pPr>
                <a:endParaRPr lang="pt-PT" dirty="0" smtClean="0"/>
              </a:p>
              <a:p>
                <a:pPr marL="0" indent="0">
                  <a:buNone/>
                </a:pPr>
                <a:endParaRPr lang="pt-PT" dirty="0" smtClean="0"/>
              </a:p>
              <a:p>
                <a:pPr marL="0" indent="0">
                  <a:buNone/>
                </a:pPr>
                <a:endParaRPr lang="pt-PT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075" t="-933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27741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Sucessões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pt-PT" sz="2800" dirty="0" smtClean="0"/>
                  <a:t>Exemplo: Calcule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PT" sz="2800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sz="2800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sz="280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sz="2800" i="1">
                                <a:latin typeface="Cambria Math"/>
                              </a:rPr>
                              <m:t>𝑛</m:t>
                            </m:r>
                            <m:r>
                              <a:rPr lang="pt-PT" sz="2800" i="1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pt-PT" sz="2800" i="1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PT" sz="2800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pt-PT" sz="2800" i="1">
                                    <a:latin typeface="Cambria Math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pt-PT" sz="2800" i="1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PT" sz="2800" i="1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t-PT" sz="2800" i="1">
                                        <a:latin typeface="Cambria Math"/>
                                      </a:rPr>
                                      <m:t>2</m:t>
                                    </m:r>
                                    <m:r>
                                      <a:rPr lang="pt-PT" sz="2800" i="1">
                                        <a:latin typeface="Cambria Math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pt-PT" sz="2800" i="1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</m:e>
                    </m:func>
                  </m:oMath>
                </a14:m>
                <a:endParaRPr lang="pt-PT" sz="2800" dirty="0" smtClean="0"/>
              </a:p>
              <a:p>
                <a:pPr marL="0" indent="0">
                  <a:buNone/>
                </a:pPr>
                <a:endParaRPr lang="pt-PT" sz="2800" dirty="0" smtClean="0"/>
              </a:p>
              <a:p>
                <a:pPr marL="0" indent="0">
                  <a:buNone/>
                </a:pPr>
                <a:r>
                  <a:rPr lang="pt-PT" sz="2800" dirty="0" smtClean="0"/>
                  <a:t>Solução:</a:t>
                </a:r>
              </a:p>
              <a:p>
                <a:pPr marL="0" indent="0">
                  <a:buNone/>
                </a:pPr>
                <a:endParaRPr lang="pt-PT" sz="2800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PT" sz="2800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sz="2800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sz="280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sz="2800" i="1">
                                <a:latin typeface="Cambria Math"/>
                              </a:rPr>
                              <m:t>𝑛</m:t>
                            </m:r>
                            <m:r>
                              <a:rPr lang="pt-PT" sz="2800" i="1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pt-PT" sz="2800" i="1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PT" sz="2800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pt-PT" sz="2800" i="1">
                                    <a:latin typeface="Cambria Math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pt-PT" sz="2800" i="1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PT" sz="2800" i="1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t-PT" sz="2800" i="1">
                                        <a:latin typeface="Cambria Math"/>
                                      </a:rPr>
                                      <m:t>2</m:t>
                                    </m:r>
                                    <m:r>
                                      <a:rPr lang="pt-PT" sz="2800" i="1">
                                        <a:latin typeface="Cambria Math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pt-PT" sz="2800" i="1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</m:e>
                    </m:func>
                    <m:r>
                      <a:rPr lang="pt-PT" sz="28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pt-PT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pt-PT" sz="2800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pt-PT" sz="2800" b="0" i="1" smtClean="0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</m:sSup>
                  </m:oMath>
                </a14:m>
                <a:r>
                  <a:rPr lang="pt-PT" sz="2800" dirty="0" smtClean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PT" sz="2800" i="1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PT" sz="2800" i="1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 sz="280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PT" sz="28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pt-PT" sz="2800" i="1">
                                  <a:latin typeface="Cambria Math"/>
                                  <a:ea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pt-PT" sz="2800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PT" sz="28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PT" sz="2800" i="1">
                                      <a:latin typeface="Cambria Math"/>
                                    </a:rPr>
                                    <m:t>1+</m:t>
                                  </m:r>
                                  <m:f>
                                    <m:fPr>
                                      <m:ctrlPr>
                                        <a:rPr lang="pt-PT" sz="2800" i="1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PT" sz="2800" i="1">
                                          <a:latin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pt-PT" sz="2800" i="1">
                                          <a:latin typeface="Cambria Math"/>
                                        </a:rPr>
                                        <m:t>2</m:t>
                                      </m:r>
                                      <m:r>
                                        <a:rPr lang="pt-PT" sz="2800" i="1">
                                          <a:latin typeface="Cambria Math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pt-PT" sz="2800" i="1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  <m:r>
                            <a:rPr lang="pt-PT" sz="2800" b="0" i="1" smtClean="0">
                              <a:latin typeface="Cambria Math"/>
                            </a:rPr>
                            <m:t>=</m:t>
                          </m:r>
                          <m:func>
                            <m:funcPr>
                              <m:ctrlPr>
                                <a:rPr lang="pt-PT" sz="2800" i="1">
                                  <a:latin typeface="Cambria Math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pt-PT" sz="2800" i="1">
                                      <a:latin typeface="Cambria Math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PT" sz="2800">
                                      <a:latin typeface="Cambria Math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pt-PT" sz="2800" i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pt-PT" sz="2800" i="1">
                                      <a:latin typeface="Cambria Math"/>
                                      <a:ea typeface="Cambria Math"/>
                                    </a:rPr>
                                    <m:t>→∞</m:t>
                                  </m:r>
                                </m:lim>
                              </m:limLow>
                            </m:fName>
                            <m:e>
                              <m:sSup>
                                <m:sSupPr>
                                  <m:ctrlPr>
                                    <a:rPr lang="pt-PT" sz="28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PT" sz="28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PT" sz="2800" i="1">
                                          <a:latin typeface="Cambria Math"/>
                                        </a:rPr>
                                        <m:t>1+</m:t>
                                      </m:r>
                                      <m:f>
                                        <m:fPr>
                                          <m:ctrlPr>
                                            <a:rPr lang="pt-PT" sz="2800" i="1">
                                              <a:latin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pt-PT" sz="2800" i="1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pt-PT" sz="2800" b="0" i="1" smtClean="0">
                                              <a:latin typeface="Cambria Math"/>
                                            </a:rPr>
                                            <m:t>𝑘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pt-PT" sz="2800" b="0" i="1" smtClean="0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PT" sz="2800" b="0" i="1" smtClean="0">
                                          <a:latin typeface="Cambria Math"/>
                                        </a:rPr>
                                        <m:t>𝑘</m:t>
                                      </m:r>
                                    </m:num>
                                    <m:den>
                                      <m:r>
                                        <a:rPr lang="pt-PT" sz="2800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func>
                          <m:r>
                            <a:rPr lang="pt-PT" sz="2800" b="0" i="1" smtClean="0">
                              <a:latin typeface="Cambria Math"/>
                            </a:rPr>
                            <m:t>=</m:t>
                          </m:r>
                          <m:func>
                            <m:funcPr>
                              <m:ctrlPr>
                                <a:rPr lang="pt-PT" sz="2800" b="0" i="1" smtClean="0">
                                  <a:latin typeface="Cambria Math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pt-PT" sz="2800" b="0" i="1" smtClean="0">
                                      <a:latin typeface="Cambria Math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PT" sz="2800" b="0" i="0" smtClean="0">
                                      <a:latin typeface="Cambria Math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pt-PT" sz="2800" b="0" i="1" smtClean="0">
                                      <a:latin typeface="Cambria Math"/>
                                    </a:rPr>
                                    <m:t>𝑘</m:t>
                                  </m:r>
                                  <m:r>
                                    <a:rPr lang="pt-PT" sz="2800" b="0" i="1" smtClean="0">
                                      <a:latin typeface="Cambria Math"/>
                                      <a:ea typeface="Cambria Math"/>
                                    </a:rPr>
                                    <m:t>→∞</m:t>
                                  </m:r>
                                </m:lim>
                              </m:limLow>
                            </m:fName>
                            <m:e>
                              <m:sSup>
                                <m:sSupPr>
                                  <m:ctrlPr>
                                    <a:rPr lang="pt-PT" sz="28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pt-PT" sz="2800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pt-PT" sz="2800" i="1"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pt-PT" sz="2800" i="1">
                                                  <a:latin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PT" sz="2800" i="1">
                                                  <a:latin typeface="Cambria Math"/>
                                                </a:rPr>
                                                <m:t>1+</m:t>
                                              </m:r>
                                              <m:f>
                                                <m:fPr>
                                                  <m:ctrlPr>
                                                    <a:rPr lang="pt-PT" sz="2800" i="1">
                                                      <a:latin typeface="Cambria Math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pt-PT" sz="2800" i="1">
                                                      <a:latin typeface="Cambria Math"/>
                                                    </a:rPr>
                                                    <m:t>1</m:t>
                                                  </m:r>
                                                </m:num>
                                                <m:den>
                                                  <m:r>
                                                    <a:rPr lang="pt-PT" sz="2800" i="1">
                                                      <a:latin typeface="Cambria Math"/>
                                                    </a:rPr>
                                                    <m:t>𝑘</m:t>
                                                  </m:r>
                                                </m:den>
                                              </m:f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pt-PT" sz="2800" b="0" i="1" smtClean="0">
                                              <a:latin typeface="Cambria Math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pt-PT" sz="2800" b="0" i="1" smtClean="0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PT" sz="2800" b="0" i="1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pt-PT" sz="2800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pt-PT" sz="2800" b="0" i="1" smtClean="0">
                                  <a:latin typeface="Cambria Math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pt-PT" sz="28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pt-PT" sz="2800" b="0" i="1" smtClean="0">
                                      <a:latin typeface="Cambria Math"/>
                                    </a:rPr>
                                    <m:t>𝑒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pt-PT" sz="2800" b="0" i="1" smtClean="0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PT" sz="2800" b="0" i="1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pt-PT" sz="2800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func>
                        </m:e>
                      </m:func>
                    </m:oMath>
                  </m:oMathPara>
                </a14:m>
                <a:endParaRPr lang="pt-PT" dirty="0" smtClean="0"/>
              </a:p>
              <a:p>
                <a:pPr marL="0" indent="0">
                  <a:buNone/>
                </a:pPr>
                <a:endParaRPr lang="pt-PT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290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637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1433</TotalTime>
  <Words>2564</Words>
  <Application>Microsoft Office PowerPoint</Application>
  <PresentationFormat>On-screen Show (4:3)</PresentationFormat>
  <Paragraphs>196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Civic</vt:lpstr>
      <vt:lpstr>Sucessões</vt:lpstr>
      <vt:lpstr>Sucessões</vt:lpstr>
      <vt:lpstr>Sucessões</vt:lpstr>
      <vt:lpstr>Sucessões</vt:lpstr>
      <vt:lpstr>Sucessões</vt:lpstr>
      <vt:lpstr>Sucessões</vt:lpstr>
      <vt:lpstr>Sucessões</vt:lpstr>
      <vt:lpstr>Sucessões</vt:lpstr>
      <vt:lpstr>Sucessão</vt:lpstr>
      <vt:lpstr>Sucessões</vt:lpstr>
      <vt:lpstr>Sucessões</vt:lpstr>
      <vt:lpstr>Sucessões</vt:lpstr>
      <vt:lpstr>Sucessões</vt:lpstr>
      <vt:lpstr>Sucessões</vt:lpstr>
      <vt:lpstr>Sucessões</vt:lpstr>
      <vt:lpstr>Sucessões</vt:lpstr>
      <vt:lpstr>Sucessões</vt:lpstr>
      <vt:lpstr>Sucessões</vt:lpstr>
      <vt:lpstr>Sucessões</vt:lpstr>
      <vt:lpstr>Sucessões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Sucessões</dc:title>
  <dc:creator>Marta Macufa</dc:creator>
  <cp:lastModifiedBy>Familia Guambe</cp:lastModifiedBy>
  <cp:revision>75</cp:revision>
  <dcterms:created xsi:type="dcterms:W3CDTF">2020-08-17T14:44:00Z</dcterms:created>
  <dcterms:modified xsi:type="dcterms:W3CDTF">2021-05-30T16:06:44Z</dcterms:modified>
</cp:coreProperties>
</file>